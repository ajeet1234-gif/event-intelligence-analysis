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wide_cinematic_dark_ui_dashboard_background_sce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9728"/>
            <a:ext cx="12191695" cy="649224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109728"/>
            <a:ext cx="12191695" cy="6492240"/>
          </a:xfrm>
          <a:prstGeom prst="rect">
            <a:avLst/>
          </a:prstGeom>
          <a:solidFill>
            <a:srgbClr val="0511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325880"/>
            <a:ext cx="1069848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200" b="1">
                <a:solidFill>
                  <a:srgbClr val="D4AF37"/>
                </a:solidFill>
                <a:latin typeface="Aptos Display"/>
              </a:defRPr>
            </a:pPr>
            <a:r>
              <a:t>EVENT INTELLIGENCE</a:t>
            </a:r>
          </a:p>
          <a:p>
            <a:pPr>
              <a:spcBef>
                <a:spcPts val="200"/>
              </a:spcBef>
              <a:defRPr sz="3400" b="1">
                <a:solidFill>
                  <a:srgbClr val="F8F9FA"/>
                </a:solidFill>
                <a:latin typeface="Aptos Display"/>
              </a:defRPr>
            </a:pPr>
            <a:r>
              <a:t>Analytics Platform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907792"/>
            <a:ext cx="8046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B4C0CC"/>
                </a:solidFill>
                <a:latin typeface="Aptos"/>
              </a:defRPr>
            </a:pPr>
            <a:r>
              <a:t>From raw event data → Python cleaning → SQL analysis → Power BI insights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166360"/>
            <a:ext cx="5029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8F9FA"/>
                </a:solidFill>
                <a:latin typeface="Aptos Display"/>
              </a:defRPr>
            </a:pPr>
            <a:r>
              <a:t>AJEET KUMAR</a:t>
            </a:r>
          </a:p>
          <a:p>
            <a:pPr>
              <a:defRPr sz="1200">
                <a:solidFill>
                  <a:srgbClr val="F0D77A"/>
                </a:solidFill>
                <a:latin typeface="Aptos"/>
              </a:defRPr>
            </a:pPr>
            <a:r>
              <a:t>Data Analyst / Data Science Aspirant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92608"/>
            <a:ext cx="89611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8F9FA"/>
                </a:solidFill>
                <a:latin typeface="Aptos Display"/>
              </a:defRPr>
            </a:pPr>
            <a:r>
              <a:t>Project Objective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32104"/>
            <a:ext cx="9601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B4C0CC"/>
                </a:solidFill>
                <a:latin typeface="Aptos"/>
              </a:defRPr>
            </a:pPr>
            <a:r>
              <a:t>A real-world analytics workflow for event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347472"/>
            <a:ext cx="1508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D4AF37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325880"/>
            <a:ext cx="6400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F8F9FA"/>
                </a:solidFill>
                <a:latin typeface="Aptos"/>
              </a:defRPr>
            </a:pPr>
            <a:r>
              <a:t>• Inspect and understand 10 interconnected event datasets.</a:t>
            </a:r>
          </a:p>
          <a:p>
            <a:pPr>
              <a:spcAft>
                <a:spcPts val="1000"/>
              </a:spcAft>
              <a:defRPr sz="1500">
                <a:solidFill>
                  <a:srgbClr val="F8F9FA"/>
                </a:solidFill>
                <a:latin typeface="Aptos"/>
              </a:defRPr>
            </a:pPr>
            <a:r>
              <a:t>• Identify missing values, duplicates, invalid values, outliers and relationship issues.</a:t>
            </a:r>
          </a:p>
          <a:p>
            <a:pPr>
              <a:spcAft>
                <a:spcPts val="1000"/>
              </a:spcAft>
              <a:defRPr sz="1500">
                <a:solidFill>
                  <a:srgbClr val="F8F9FA"/>
                </a:solidFill>
                <a:latin typeface="Aptos"/>
              </a:defRPr>
            </a:pPr>
            <a:r>
              <a:t>• Create clean, analysis-ready relational data using Python.</a:t>
            </a:r>
          </a:p>
          <a:p>
            <a:pPr>
              <a:spcAft>
                <a:spcPts val="1000"/>
              </a:spcAft>
              <a:defRPr sz="1500">
                <a:solidFill>
                  <a:srgbClr val="F8F9FA"/>
                </a:solidFill>
                <a:latin typeface="Aptos"/>
              </a:defRPr>
            </a:pPr>
            <a:r>
              <a:t>• Answer 50 business questions using MySQL and analytical SQL.</a:t>
            </a:r>
          </a:p>
          <a:p>
            <a:pPr>
              <a:spcAft>
                <a:spcPts val="1000"/>
              </a:spcAft>
              <a:defRPr sz="1500">
                <a:solidFill>
                  <a:srgbClr val="F8F9FA"/>
                </a:solidFill>
                <a:latin typeface="Aptos"/>
              </a:defRPr>
            </a:pPr>
            <a:r>
              <a:t>• Build interactive Power BI dashboards for customers, bookings, payments and events.</a:t>
            </a:r>
          </a:p>
          <a:p>
            <a:pPr>
              <a:spcAft>
                <a:spcPts val="1000"/>
              </a:spcAft>
              <a:defRPr sz="1500">
                <a:solidFill>
                  <a:srgbClr val="F8F9FA"/>
                </a:solidFill>
                <a:latin typeface="Aptos"/>
              </a:defRPr>
            </a:pPr>
            <a:r>
              <a:t>• Turn operational data into clear business metrics and visual insights.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635240" y="1417320"/>
            <a:ext cx="3566160" cy="1143000"/>
          </a:xfrm>
          <a:prstGeom prst="roundRect">
            <a:avLst/>
          </a:prstGeom>
          <a:solidFill>
            <a:srgbClr val="0A1C2D"/>
          </a:solidFill>
          <a:ln w="12700">
            <a:solidFill>
              <a:srgbClr val="3A4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D4AF37"/>
                </a:solidFill>
                <a:latin typeface="Aptos"/>
              </a:defRPr>
            </a:pPr>
            <a:r>
              <a:t>RELATIONAL TABLES</a:t>
            </a:r>
          </a:p>
          <a:p>
            <a:pPr>
              <a:spcBef>
                <a:spcPts val="500"/>
              </a:spcBef>
              <a:defRPr sz="2300" b="1">
                <a:solidFill>
                  <a:srgbClr val="F8F9FA"/>
                </a:solidFill>
                <a:latin typeface="Aptos Display"/>
              </a:defRPr>
            </a:pPr>
            <a:r>
              <a:t>10</a:t>
            </a:r>
          </a:p>
          <a:p>
            <a:pPr>
              <a:spcBef>
                <a:spcPts val="500"/>
              </a:spcBef>
              <a:defRPr sz="900">
                <a:solidFill>
                  <a:srgbClr val="B4C0CC"/>
                </a:solidFill>
                <a:latin typeface="Aptos"/>
              </a:defRPr>
            </a:pPr>
            <a:r>
              <a:t>Customers → Events → Tickets → Bookings → Payments → Attendance + master data</a:t>
            </a:r>
          </a:p>
        </p:txBody>
      </p:sp>
      <p:sp>
        <p:nvSpPr>
          <p:cNvPr id="8" name="Rectangle 7"/>
          <p:cNvSpPr/>
          <p:nvPr/>
        </p:nvSpPr>
        <p:spPr>
          <a:xfrm>
            <a:off x="7635240" y="1417320"/>
            <a:ext cx="45720" cy="11430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635240" y="2788920"/>
            <a:ext cx="3566160" cy="1143000"/>
          </a:xfrm>
          <a:prstGeom prst="roundRect">
            <a:avLst/>
          </a:prstGeom>
          <a:solidFill>
            <a:srgbClr val="0A1C2D"/>
          </a:solidFill>
          <a:ln w="12700">
            <a:solidFill>
              <a:srgbClr val="3A4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D4AF37"/>
                </a:solidFill>
                <a:latin typeface="Aptos"/>
              </a:defRPr>
            </a:pPr>
            <a:r>
              <a:t>SQL BUSINESS QUESTIONS</a:t>
            </a:r>
          </a:p>
          <a:p>
            <a:pPr>
              <a:spcBef>
                <a:spcPts val="500"/>
              </a:spcBef>
              <a:defRPr sz="2300" b="1">
                <a:solidFill>
                  <a:srgbClr val="F8F9FA"/>
                </a:solidFill>
                <a:latin typeface="Aptos Display"/>
              </a:defRPr>
            </a:pPr>
            <a:r>
              <a:t>50</a:t>
            </a:r>
          </a:p>
          <a:p>
            <a:pPr>
              <a:spcBef>
                <a:spcPts val="500"/>
              </a:spcBef>
              <a:defRPr sz="900">
                <a:solidFill>
                  <a:srgbClr val="B4C0CC"/>
                </a:solidFill>
                <a:latin typeface="Aptos"/>
              </a:defRPr>
            </a:pPr>
            <a:r>
              <a:t>From basic aggregation to ranking and running totals</a:t>
            </a:r>
          </a:p>
        </p:txBody>
      </p:sp>
      <p:sp>
        <p:nvSpPr>
          <p:cNvPr id="10" name="Rectangle 9"/>
          <p:cNvSpPr/>
          <p:nvPr/>
        </p:nvSpPr>
        <p:spPr>
          <a:xfrm>
            <a:off x="7635240" y="2788920"/>
            <a:ext cx="45720" cy="11430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635240" y="4160520"/>
            <a:ext cx="3566160" cy="1143000"/>
          </a:xfrm>
          <a:prstGeom prst="roundRect">
            <a:avLst/>
          </a:prstGeom>
          <a:solidFill>
            <a:srgbClr val="0A1C2D"/>
          </a:solidFill>
          <a:ln w="12700">
            <a:solidFill>
              <a:srgbClr val="3A4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D4AF37"/>
                </a:solidFill>
                <a:latin typeface="Aptos"/>
              </a:defRPr>
            </a:pPr>
            <a:r>
              <a:t>ANALYTICS STACK</a:t>
            </a:r>
          </a:p>
          <a:p>
            <a:pPr>
              <a:spcBef>
                <a:spcPts val="500"/>
              </a:spcBef>
              <a:defRPr sz="2300" b="1">
                <a:solidFill>
                  <a:srgbClr val="F8F9FA"/>
                </a:solidFill>
                <a:latin typeface="Aptos Display"/>
              </a:defRPr>
            </a:pPr>
            <a:r>
              <a:t>Python • MySQL • Power BI</a:t>
            </a:r>
          </a:p>
          <a:p>
            <a:pPr>
              <a:spcBef>
                <a:spcPts val="500"/>
              </a:spcBef>
              <a:defRPr sz="900">
                <a:solidFill>
                  <a:srgbClr val="B4C0CC"/>
                </a:solidFill>
                <a:latin typeface="Aptos"/>
              </a:defRPr>
            </a:pPr>
            <a:r>
              <a:t>Pandas, NumPy, Matplotlib, Seaborn, SQL and dashboarding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635240" y="4160520"/>
            <a:ext cx="45720" cy="11430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05F6E"/>
                </a:solidFill>
                <a:latin typeface="Aptos"/>
              </a:defRPr>
            </a:pPr>
            <a:r>
              <a:t>EVENT INTELLIGENCE PLATFORM  •  Ajeet Kumar                                      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92608"/>
            <a:ext cx="89611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8F9FA"/>
                </a:solidFill>
                <a:latin typeface="Aptos Display"/>
              </a:defRPr>
            </a:pPr>
            <a:r>
              <a:t>Data Model &amp; Project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32104"/>
            <a:ext cx="9601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B4C0CC"/>
                </a:solidFill>
                <a:latin typeface="Aptos"/>
              </a:defRPr>
            </a:pPr>
            <a:r>
              <a:t>The project keeps the relational structure instead of flattening everything into one table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347472"/>
            <a:ext cx="1508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D4AF37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508760"/>
            <a:ext cx="1965960" cy="594360"/>
          </a:xfrm>
          <a:prstGeom prst="roundRect">
            <a:avLst/>
          </a:prstGeom>
          <a:solidFill>
            <a:srgbClr val="0A1C2D"/>
          </a:solidFill>
          <a:ln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8F9FA"/>
                </a:solidFill>
                <a:latin typeface="Aptos"/>
              </a:defRPr>
            </a:pPr>
            <a:r>
              <a:t>CUSTOMERS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46120" y="1508760"/>
            <a:ext cx="1965960" cy="594360"/>
          </a:xfrm>
          <a:prstGeom prst="roundRect">
            <a:avLst/>
          </a:prstGeom>
          <a:solidFill>
            <a:srgbClr val="0A1C2D"/>
          </a:solidFill>
          <a:ln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8F9FA"/>
                </a:solidFill>
                <a:latin typeface="Aptos"/>
              </a:defRPr>
            </a:pPr>
            <a:r>
              <a:t>BOOKINGS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806440" y="1508760"/>
            <a:ext cx="1965960" cy="594360"/>
          </a:xfrm>
          <a:prstGeom prst="roundRect">
            <a:avLst/>
          </a:prstGeom>
          <a:solidFill>
            <a:srgbClr val="0A1C2D"/>
          </a:solidFill>
          <a:ln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8F9FA"/>
                </a:solidFill>
                <a:latin typeface="Aptos"/>
              </a:defRPr>
            </a:pPr>
            <a:r>
              <a:t>TICKETS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366760" y="1508760"/>
            <a:ext cx="1965960" cy="594360"/>
          </a:xfrm>
          <a:prstGeom prst="roundRect">
            <a:avLst/>
          </a:prstGeom>
          <a:solidFill>
            <a:srgbClr val="0A1C2D"/>
          </a:solidFill>
          <a:ln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8F9FA"/>
                </a:solidFill>
                <a:latin typeface="Aptos"/>
              </a:defRPr>
            </a:pPr>
            <a:r>
              <a:t>EVENTS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651760" y="1810512"/>
            <a:ext cx="548640" cy="0"/>
          </a:xfrm>
          <a:prstGeom prst="line">
            <a:avLst/>
          </a:prstGeom>
          <a:ln w="25400">
            <a:solidFill>
              <a:srgbClr val="D4AF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5212080" y="1810512"/>
            <a:ext cx="548640" cy="0"/>
          </a:xfrm>
          <a:prstGeom prst="line">
            <a:avLst/>
          </a:prstGeom>
          <a:ln w="25400">
            <a:solidFill>
              <a:srgbClr val="D4AF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772400" y="1810512"/>
            <a:ext cx="548640" cy="0"/>
          </a:xfrm>
          <a:prstGeom prst="line">
            <a:avLst/>
          </a:prstGeom>
          <a:ln w="25400">
            <a:solidFill>
              <a:srgbClr val="D4AF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914400" y="2834640"/>
            <a:ext cx="1737360" cy="566928"/>
          </a:xfrm>
          <a:prstGeom prst="roundRect">
            <a:avLst/>
          </a:prstGeom>
          <a:solidFill>
            <a:srgbClr val="0E2234"/>
          </a:solidFill>
          <a:ln>
            <a:solidFill>
              <a:srgbClr val="465A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B4C0CC"/>
                </a:solidFill>
                <a:latin typeface="Aptos"/>
              </a:defRPr>
            </a:pPr>
            <a:r>
              <a:t>EVENT CATEGORIES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91840" y="2834640"/>
            <a:ext cx="1737360" cy="566928"/>
          </a:xfrm>
          <a:prstGeom prst="roundRect">
            <a:avLst/>
          </a:prstGeom>
          <a:solidFill>
            <a:srgbClr val="0E2234"/>
          </a:solidFill>
          <a:ln>
            <a:solidFill>
              <a:srgbClr val="465A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B4C0CC"/>
                </a:solidFill>
                <a:latin typeface="Aptos"/>
              </a:defRPr>
            </a:pPr>
            <a:r>
              <a:t>VENUES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0" y="2834640"/>
            <a:ext cx="1737360" cy="566928"/>
          </a:xfrm>
          <a:prstGeom prst="roundRect">
            <a:avLst/>
          </a:prstGeom>
          <a:solidFill>
            <a:srgbClr val="0E2234"/>
          </a:solidFill>
          <a:ln>
            <a:solidFill>
              <a:srgbClr val="465A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B4C0CC"/>
                </a:solidFill>
                <a:latin typeface="Aptos"/>
              </a:defRPr>
            </a:pPr>
            <a:r>
              <a:t>ORGANIZERS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680960" y="2834640"/>
            <a:ext cx="1737360" cy="566928"/>
          </a:xfrm>
          <a:prstGeom prst="roundRect">
            <a:avLst/>
          </a:prstGeom>
          <a:solidFill>
            <a:srgbClr val="0E2234"/>
          </a:solidFill>
          <a:ln>
            <a:solidFill>
              <a:srgbClr val="465A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B4C0CC"/>
                </a:solidFill>
                <a:latin typeface="Aptos"/>
              </a:defRPr>
            </a:pPr>
            <a:r>
              <a:t>PAYMENTS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829800" y="2834640"/>
            <a:ext cx="1737360" cy="566928"/>
          </a:xfrm>
          <a:prstGeom prst="roundRect">
            <a:avLst/>
          </a:prstGeom>
          <a:solidFill>
            <a:srgbClr val="0E2234"/>
          </a:solidFill>
          <a:ln>
            <a:solidFill>
              <a:srgbClr val="465A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B4C0CC"/>
                </a:solidFill>
                <a:latin typeface="Aptos"/>
              </a:defRPr>
            </a:pPr>
            <a:r>
              <a:t>ATTENDANCE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892040" y="4069080"/>
            <a:ext cx="2377440" cy="594360"/>
          </a:xfrm>
          <a:prstGeom prst="roundRect">
            <a:avLst/>
          </a:prstGeom>
          <a:solidFill>
            <a:srgbClr val="0E2234"/>
          </a:solidFill>
          <a:ln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8F9FA"/>
                </a:solidFill>
                <a:latin typeface="Aptos"/>
              </a:defRPr>
            </a:pPr>
            <a:r>
              <a:t>WEATHER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5074920"/>
            <a:ext cx="3291840" cy="914400"/>
          </a:xfrm>
          <a:prstGeom prst="roundRect">
            <a:avLst/>
          </a:prstGeom>
          <a:solidFill>
            <a:srgbClr val="0A1C2D"/>
          </a:solidFill>
          <a:ln w="12700">
            <a:solidFill>
              <a:srgbClr val="3A4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D4AF37"/>
                </a:solidFill>
                <a:latin typeface="Aptos"/>
              </a:defRPr>
            </a:pPr>
            <a:r>
              <a:t>FACT-LIKE TABLES</a:t>
            </a:r>
          </a:p>
          <a:p>
            <a:pPr>
              <a:spcBef>
                <a:spcPts val="500"/>
              </a:spcBef>
              <a:defRPr sz="2300" b="1">
                <a:solidFill>
                  <a:srgbClr val="F8F9FA"/>
                </a:solidFill>
                <a:latin typeface="Aptos Display"/>
              </a:defRPr>
            </a:pPr>
            <a:r>
              <a:t>Bookings • Payments • Tickets • Attendance</a:t>
            </a:r>
          </a:p>
          <a:p>
            <a:pPr>
              <a:spcBef>
                <a:spcPts val="500"/>
              </a:spcBef>
              <a:defRPr sz="900">
                <a:solidFill>
                  <a:srgbClr val="B4C0CC"/>
                </a:solidFill>
                <a:latin typeface="Aptos"/>
              </a:defRPr>
            </a:pPr>
            <a:r>
              <a:t>Transaction and activity records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1520" y="5074920"/>
            <a:ext cx="45720" cy="9144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4343400" y="5074920"/>
            <a:ext cx="3291840" cy="914400"/>
          </a:xfrm>
          <a:prstGeom prst="roundRect">
            <a:avLst/>
          </a:prstGeom>
          <a:solidFill>
            <a:srgbClr val="0A1C2D"/>
          </a:solidFill>
          <a:ln w="12700">
            <a:solidFill>
              <a:srgbClr val="3A4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D4AF37"/>
                </a:solidFill>
                <a:latin typeface="Aptos"/>
              </a:defRPr>
            </a:pPr>
            <a:r>
              <a:t>MASTER / DIMENSIONS</a:t>
            </a:r>
          </a:p>
          <a:p>
            <a:pPr>
              <a:spcBef>
                <a:spcPts val="500"/>
              </a:spcBef>
              <a:defRPr sz="2300" b="1">
                <a:solidFill>
                  <a:srgbClr val="F8F9FA"/>
                </a:solidFill>
                <a:latin typeface="Aptos Display"/>
              </a:defRPr>
            </a:pPr>
            <a:r>
              <a:t>Customers • Events • Venues • Organizers</a:t>
            </a:r>
          </a:p>
          <a:p>
            <a:pPr>
              <a:spcBef>
                <a:spcPts val="500"/>
              </a:spcBef>
              <a:defRPr sz="900">
                <a:solidFill>
                  <a:srgbClr val="B4C0CC"/>
                </a:solidFill>
                <a:latin typeface="Aptos"/>
              </a:defRPr>
            </a:pPr>
            <a:r>
              <a:t>Descriptive business entities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343400" y="5074920"/>
            <a:ext cx="45720" cy="9144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7955279" y="5074920"/>
            <a:ext cx="3291840" cy="914400"/>
          </a:xfrm>
          <a:prstGeom prst="roundRect">
            <a:avLst/>
          </a:prstGeom>
          <a:solidFill>
            <a:srgbClr val="0A1C2D"/>
          </a:solidFill>
          <a:ln w="12700">
            <a:solidFill>
              <a:srgbClr val="3A4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D4AF37"/>
                </a:solidFill>
                <a:latin typeface="Aptos"/>
              </a:defRPr>
            </a:pPr>
            <a:r>
              <a:t>ANALYTICS FLOW</a:t>
            </a:r>
          </a:p>
          <a:p>
            <a:pPr>
              <a:spcBef>
                <a:spcPts val="500"/>
              </a:spcBef>
              <a:defRPr sz="2300" b="1">
                <a:solidFill>
                  <a:srgbClr val="F8F9FA"/>
                </a:solidFill>
                <a:latin typeface="Aptos Display"/>
              </a:defRPr>
            </a:pPr>
            <a:r>
              <a:t>Python → MySQL → Power BI</a:t>
            </a:r>
          </a:p>
          <a:p>
            <a:pPr>
              <a:spcBef>
                <a:spcPts val="500"/>
              </a:spcBef>
              <a:defRPr sz="900">
                <a:solidFill>
                  <a:srgbClr val="B4C0CC"/>
                </a:solidFill>
                <a:latin typeface="Aptos"/>
              </a:defRPr>
            </a:pPr>
            <a:r>
              <a:t>Clean → query → visualize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955279" y="5074920"/>
            <a:ext cx="45720" cy="9144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94360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05F6E"/>
                </a:solidFill>
                <a:latin typeface="Aptos"/>
              </a:defRPr>
            </a:pPr>
            <a:r>
              <a:t>EVENT INTELLIGENCE PLATFORM  •  Ajeet Kumar                                      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92608"/>
            <a:ext cx="89611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8F9FA"/>
                </a:solidFill>
                <a:latin typeface="Aptos Display"/>
              </a:defRPr>
            </a:pPr>
            <a:r>
              <a:t>Data Quality &amp; Cleaning 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32104"/>
            <a:ext cx="9601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B4C0CC"/>
                </a:solidFill>
                <a:latin typeface="Aptos"/>
              </a:defRPr>
            </a:pPr>
            <a:r>
              <a:t>The raw data was intentionally treated like imperfect real-world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347472"/>
            <a:ext cx="1508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D4AF37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234440"/>
            <a:ext cx="10835640" cy="530352"/>
          </a:xfrm>
          <a:prstGeom prst="roundRect">
            <a:avLst/>
          </a:prstGeom>
          <a:solidFill>
            <a:srgbClr val="0A1C2D"/>
          </a:solidFill>
          <a:ln>
            <a:solidFill>
              <a:srgbClr val="2D3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D4AF37"/>
                </a:solidFill>
                <a:latin typeface="Aptos"/>
              </a:defRPr>
            </a:pPr>
            <a:r>
              <a:t>Missing values</a:t>
            </a:r>
          </a:p>
          <a:p>
            <a:pPr>
              <a:spcBef>
                <a:spcPts val="200"/>
              </a:spcBef>
              <a:defRPr sz="1000">
                <a:solidFill>
                  <a:srgbClr val="B4C0CC"/>
                </a:solidFill>
                <a:latin typeface="Aptos"/>
              </a:defRPr>
            </a:pPr>
            <a:r>
              <a:t>Handled using suitable numeric/text strategies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892808"/>
            <a:ext cx="10835640" cy="530352"/>
          </a:xfrm>
          <a:prstGeom prst="roundRect">
            <a:avLst/>
          </a:prstGeom>
          <a:solidFill>
            <a:srgbClr val="0A1C2D"/>
          </a:solidFill>
          <a:ln>
            <a:solidFill>
              <a:srgbClr val="2D3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D4AF37"/>
                </a:solidFill>
                <a:latin typeface="Aptos"/>
              </a:defRPr>
            </a:pPr>
            <a:r>
              <a:t>Duplicates</a:t>
            </a:r>
          </a:p>
          <a:p>
            <a:pPr>
              <a:spcBef>
                <a:spcPts val="200"/>
              </a:spcBef>
              <a:defRPr sz="1000">
                <a:solidFill>
                  <a:srgbClr val="B4C0CC"/>
                </a:solidFill>
                <a:latin typeface="Aptos"/>
              </a:defRPr>
            </a:pPr>
            <a:r>
              <a:t>Removed duplicate rows and duplicate business keys where appropriate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551176"/>
            <a:ext cx="10835640" cy="530352"/>
          </a:xfrm>
          <a:prstGeom prst="roundRect">
            <a:avLst/>
          </a:prstGeom>
          <a:solidFill>
            <a:srgbClr val="0A1C2D"/>
          </a:solidFill>
          <a:ln>
            <a:solidFill>
              <a:srgbClr val="2D3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D4AF37"/>
                </a:solidFill>
                <a:latin typeface="Aptos"/>
              </a:defRPr>
            </a:pPr>
            <a:r>
              <a:t>Invalid numeric values</a:t>
            </a:r>
          </a:p>
          <a:p>
            <a:pPr>
              <a:spcBef>
                <a:spcPts val="200"/>
              </a:spcBef>
              <a:defRPr sz="1000">
                <a:solidFill>
                  <a:srgbClr val="B4C0CC"/>
                </a:solidFill>
                <a:latin typeface="Aptos"/>
              </a:defRPr>
            </a:pPr>
            <a:r>
              <a:t>Checked ages, prices, discounts and measurements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3209544"/>
            <a:ext cx="10835640" cy="530352"/>
          </a:xfrm>
          <a:prstGeom prst="roundRect">
            <a:avLst/>
          </a:prstGeom>
          <a:solidFill>
            <a:srgbClr val="0A1C2D"/>
          </a:solidFill>
          <a:ln>
            <a:solidFill>
              <a:srgbClr val="2D3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D4AF37"/>
                </a:solidFill>
                <a:latin typeface="Aptos"/>
              </a:defRPr>
            </a:pPr>
            <a:r>
              <a:t>Categorical consistency</a:t>
            </a:r>
          </a:p>
          <a:p>
            <a:pPr>
              <a:spcBef>
                <a:spcPts val="200"/>
              </a:spcBef>
              <a:defRPr sz="1000">
                <a:solidFill>
                  <a:srgbClr val="B4C0CC"/>
                </a:solidFill>
                <a:latin typeface="Aptos"/>
              </a:defRPr>
            </a:pPr>
            <a:r>
              <a:t>Standardized capitalization, spacing and category labels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3867912"/>
            <a:ext cx="10835640" cy="530352"/>
          </a:xfrm>
          <a:prstGeom prst="roundRect">
            <a:avLst/>
          </a:prstGeom>
          <a:solidFill>
            <a:srgbClr val="0A1C2D"/>
          </a:solidFill>
          <a:ln>
            <a:solidFill>
              <a:srgbClr val="2D3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D4AF37"/>
                </a:solidFill>
                <a:latin typeface="Aptos"/>
              </a:defRPr>
            </a:pPr>
            <a:r>
              <a:t>Dates &amp; chronology</a:t>
            </a:r>
          </a:p>
          <a:p>
            <a:pPr>
              <a:spcBef>
                <a:spcPts val="200"/>
              </a:spcBef>
              <a:defRPr sz="1000">
                <a:solidFill>
                  <a:srgbClr val="B4C0CC"/>
                </a:solidFill>
                <a:latin typeface="Aptos"/>
              </a:defRPr>
            </a:pPr>
            <a:r>
              <a:t>Standardized dates and checked logical time sequences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4526279"/>
            <a:ext cx="10835640" cy="530352"/>
          </a:xfrm>
          <a:prstGeom prst="roundRect">
            <a:avLst/>
          </a:prstGeom>
          <a:solidFill>
            <a:srgbClr val="0A1C2D"/>
          </a:solidFill>
          <a:ln>
            <a:solidFill>
              <a:srgbClr val="2D3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D4AF37"/>
                </a:solidFill>
                <a:latin typeface="Aptos"/>
              </a:defRPr>
            </a:pPr>
            <a:r>
              <a:t>PK / FK integrity</a:t>
            </a:r>
          </a:p>
          <a:p>
            <a:pPr>
              <a:spcBef>
                <a:spcPts val="200"/>
              </a:spcBef>
              <a:defRPr sz="1000">
                <a:solidFill>
                  <a:srgbClr val="B4C0CC"/>
                </a:solidFill>
                <a:latin typeface="Aptos"/>
              </a:defRPr>
            </a:pPr>
            <a:r>
              <a:t>Validated keys and handled orphan foreign-key records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5184648"/>
            <a:ext cx="10835640" cy="530352"/>
          </a:xfrm>
          <a:prstGeom prst="roundRect">
            <a:avLst/>
          </a:prstGeom>
          <a:solidFill>
            <a:srgbClr val="0A1C2D"/>
          </a:solidFill>
          <a:ln>
            <a:solidFill>
              <a:srgbClr val="2D3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D4AF37"/>
                </a:solidFill>
                <a:latin typeface="Aptos"/>
              </a:defRPr>
            </a:pPr>
            <a:r>
              <a:t>Business rules</a:t>
            </a:r>
          </a:p>
          <a:p>
            <a:pPr>
              <a:spcBef>
                <a:spcPts val="200"/>
              </a:spcBef>
              <a:defRPr sz="1000">
                <a:solidFill>
                  <a:srgbClr val="B4C0CC"/>
                </a:solidFill>
                <a:latin typeface="Aptos"/>
              </a:defRPr>
            </a:pPr>
            <a:r>
              <a:t>Validated status, payment/refund and domain constraints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05F6E"/>
                </a:solidFill>
                <a:latin typeface="Aptos"/>
              </a:defRPr>
            </a:pPr>
            <a:r>
              <a:t>EVENT INTELLIGENCE PLATFORM  •  Ajeet Kumar                                      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92608"/>
            <a:ext cx="89611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8F9FA"/>
                </a:solidFill>
                <a:latin typeface="Aptos Display"/>
              </a:defRPr>
            </a:pPr>
            <a:r>
              <a:t>Python: Data Cleaning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32104"/>
            <a:ext cx="9601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B4C0CC"/>
                </a:solidFill>
                <a:latin typeface="Aptos"/>
              </a:defRPr>
            </a:pPr>
            <a:r>
              <a:t>Pandas + NumPy + Matplotlib + Seaborn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347472"/>
            <a:ext cx="1508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D4AF37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417320"/>
            <a:ext cx="1572768" cy="1234440"/>
          </a:xfrm>
          <a:prstGeom prst="roundRect">
            <a:avLst/>
          </a:prstGeom>
          <a:solidFill>
            <a:srgbClr val="0A1C2D"/>
          </a:solidFill>
          <a:ln>
            <a:solidFill>
              <a:srgbClr val="3C4E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D4AF37"/>
                </a:solidFill>
                <a:latin typeface="Aptos Display"/>
              </a:defRPr>
            </a:pPr>
            <a:r>
              <a:t>01</a:t>
            </a:r>
          </a:p>
          <a:p>
            <a:pPr>
              <a:defRPr sz="1200" b="1">
                <a:solidFill>
                  <a:srgbClr val="F8F9FA"/>
                </a:solidFill>
                <a:latin typeface="Aptos"/>
              </a:defRPr>
            </a:pPr>
            <a:r>
              <a:t>LOAD</a:t>
            </a:r>
          </a:p>
          <a:p>
            <a:pPr>
              <a:defRPr sz="800">
                <a:solidFill>
                  <a:srgbClr val="B4C0CC"/>
                </a:solidFill>
                <a:latin typeface="Aptos"/>
              </a:defRPr>
            </a:pPr>
            <a:r>
              <a:t>10 raw CSV tables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167128" y="2039112"/>
            <a:ext cx="256032" cy="0"/>
          </a:xfrm>
          <a:prstGeom prst="line">
            <a:avLst/>
          </a:prstGeom>
          <a:ln w="25400">
            <a:solidFill>
              <a:srgbClr val="D4AF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2468879" y="1417320"/>
            <a:ext cx="1572768" cy="1234440"/>
          </a:xfrm>
          <a:prstGeom prst="roundRect">
            <a:avLst/>
          </a:prstGeom>
          <a:solidFill>
            <a:srgbClr val="0A1C2D"/>
          </a:solidFill>
          <a:ln>
            <a:solidFill>
              <a:srgbClr val="3C4E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D4AF37"/>
                </a:solidFill>
                <a:latin typeface="Aptos Display"/>
              </a:defRPr>
            </a:pPr>
            <a:r>
              <a:t>02</a:t>
            </a:r>
          </a:p>
          <a:p>
            <a:pPr>
              <a:defRPr sz="1200" b="1">
                <a:solidFill>
                  <a:srgbClr val="F8F9FA"/>
                </a:solidFill>
                <a:latin typeface="Aptos"/>
              </a:defRPr>
            </a:pPr>
            <a:r>
              <a:t>AUDIT</a:t>
            </a:r>
          </a:p>
          <a:p>
            <a:pPr>
              <a:defRPr sz="800">
                <a:solidFill>
                  <a:srgbClr val="B4C0CC"/>
                </a:solidFill>
                <a:latin typeface="Aptos"/>
              </a:defRPr>
            </a:pPr>
            <a:r>
              <a:t>shape • dtypes • nulls • duplicates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4041648" y="2039112"/>
            <a:ext cx="256031" cy="0"/>
          </a:xfrm>
          <a:prstGeom prst="line">
            <a:avLst/>
          </a:prstGeom>
          <a:ln w="25400">
            <a:solidFill>
              <a:srgbClr val="D4AF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4343400" y="1417320"/>
            <a:ext cx="1572768" cy="1234440"/>
          </a:xfrm>
          <a:prstGeom prst="roundRect">
            <a:avLst/>
          </a:prstGeom>
          <a:solidFill>
            <a:srgbClr val="0A1C2D"/>
          </a:solidFill>
          <a:ln>
            <a:solidFill>
              <a:srgbClr val="3C4E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D4AF37"/>
                </a:solidFill>
                <a:latin typeface="Aptos Display"/>
              </a:defRPr>
            </a:pPr>
            <a:r>
              <a:t>03</a:t>
            </a:r>
          </a:p>
          <a:p>
            <a:pPr>
              <a:defRPr sz="1200" b="1">
                <a:solidFill>
                  <a:srgbClr val="F8F9FA"/>
                </a:solidFill>
                <a:latin typeface="Aptos"/>
              </a:defRPr>
            </a:pPr>
            <a:r>
              <a:t>CLEAN</a:t>
            </a:r>
          </a:p>
          <a:p>
            <a:pPr>
              <a:defRPr sz="800">
                <a:solidFill>
                  <a:srgbClr val="B4C0CC"/>
                </a:solidFill>
                <a:latin typeface="Aptos"/>
              </a:defRPr>
            </a:pPr>
            <a:r>
              <a:t>missing • invalid • duplicate • category fixes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916168" y="2039112"/>
            <a:ext cx="256032" cy="0"/>
          </a:xfrm>
          <a:prstGeom prst="line">
            <a:avLst/>
          </a:prstGeom>
          <a:ln w="25400">
            <a:solidFill>
              <a:srgbClr val="D4AF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6217920" y="1417320"/>
            <a:ext cx="1572768" cy="1234440"/>
          </a:xfrm>
          <a:prstGeom prst="roundRect">
            <a:avLst/>
          </a:prstGeom>
          <a:solidFill>
            <a:srgbClr val="0A1C2D"/>
          </a:solidFill>
          <a:ln>
            <a:solidFill>
              <a:srgbClr val="3C4E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D4AF37"/>
                </a:solidFill>
                <a:latin typeface="Aptos Display"/>
              </a:defRPr>
            </a:pPr>
            <a:r>
              <a:t>04</a:t>
            </a:r>
          </a:p>
          <a:p>
            <a:pPr>
              <a:defRPr sz="1200" b="1">
                <a:solidFill>
                  <a:srgbClr val="F8F9FA"/>
                </a:solidFill>
                <a:latin typeface="Aptos"/>
              </a:defRPr>
            </a:pPr>
            <a:r>
              <a:t>VALIDATE</a:t>
            </a:r>
          </a:p>
          <a:p>
            <a:pPr>
              <a:defRPr sz="800">
                <a:solidFill>
                  <a:srgbClr val="B4C0CC"/>
                </a:solidFill>
                <a:latin typeface="Aptos"/>
              </a:defRPr>
            </a:pPr>
            <a:r>
              <a:t>PK/FK • business rules • chronology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790688" y="2039112"/>
            <a:ext cx="256032" cy="0"/>
          </a:xfrm>
          <a:prstGeom prst="line">
            <a:avLst/>
          </a:prstGeom>
          <a:ln w="25400">
            <a:solidFill>
              <a:srgbClr val="D4AF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8092440" y="1417320"/>
            <a:ext cx="1572768" cy="1234440"/>
          </a:xfrm>
          <a:prstGeom prst="roundRect">
            <a:avLst/>
          </a:prstGeom>
          <a:solidFill>
            <a:srgbClr val="0A1C2D"/>
          </a:solidFill>
          <a:ln>
            <a:solidFill>
              <a:srgbClr val="3C4E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D4AF37"/>
                </a:solidFill>
                <a:latin typeface="Aptos Display"/>
              </a:defRPr>
            </a:pPr>
            <a:r>
              <a:t>05</a:t>
            </a:r>
          </a:p>
          <a:p>
            <a:pPr>
              <a:defRPr sz="1200" b="1">
                <a:solidFill>
                  <a:srgbClr val="F8F9FA"/>
                </a:solidFill>
                <a:latin typeface="Aptos"/>
              </a:defRPr>
            </a:pPr>
            <a:r>
              <a:t>SAVE</a:t>
            </a:r>
          </a:p>
          <a:p>
            <a:pPr>
              <a:defRPr sz="800">
                <a:solidFill>
                  <a:srgbClr val="B4C0CC"/>
                </a:solidFill>
                <a:latin typeface="Aptos"/>
              </a:defRPr>
            </a:pPr>
            <a:r>
              <a:t>10 cleaned CSV files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9665208" y="2039112"/>
            <a:ext cx="256032" cy="0"/>
          </a:xfrm>
          <a:prstGeom prst="line">
            <a:avLst/>
          </a:prstGeom>
          <a:ln w="25400">
            <a:solidFill>
              <a:srgbClr val="D4AF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9966960" y="1417320"/>
            <a:ext cx="1572768" cy="1234440"/>
          </a:xfrm>
          <a:prstGeom prst="roundRect">
            <a:avLst/>
          </a:prstGeom>
          <a:solidFill>
            <a:srgbClr val="0A1C2D"/>
          </a:solidFill>
          <a:ln>
            <a:solidFill>
              <a:srgbClr val="3C4E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D4AF37"/>
                </a:solidFill>
                <a:latin typeface="Aptos Display"/>
              </a:defRPr>
            </a:pPr>
            <a:r>
              <a:t>06</a:t>
            </a:r>
          </a:p>
          <a:p>
            <a:pPr>
              <a:defRPr sz="1200" b="1">
                <a:solidFill>
                  <a:srgbClr val="F8F9FA"/>
                </a:solidFill>
                <a:latin typeface="Aptos"/>
              </a:defRPr>
            </a:pPr>
            <a:r>
              <a:t>EDA</a:t>
            </a:r>
          </a:p>
          <a:p>
            <a:pPr>
              <a:defRPr sz="800">
                <a:solidFill>
                  <a:srgbClr val="B4C0CC"/>
                </a:solidFill>
                <a:latin typeface="Aptos"/>
              </a:defRPr>
            </a:pPr>
            <a:r>
              <a:t>univariate • bivariate • correlation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3154680"/>
            <a:ext cx="5257800" cy="2011680"/>
          </a:xfrm>
          <a:prstGeom prst="roundRect">
            <a:avLst/>
          </a:prstGeom>
          <a:solidFill>
            <a:srgbClr val="0C1724"/>
          </a:solidFill>
          <a:ln>
            <a:solidFill>
              <a:srgbClr val="3C4B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  <a:defRPr sz="900" b="1">
                <a:solidFill>
                  <a:srgbClr val="D4AF37"/>
                </a:solidFill>
                <a:latin typeface="Aptos"/>
              </a:defRPr>
            </a:pPr>
            <a:r>
              <a:t>PYTHON CLEANING EXAMPLE</a:t>
            </a:r>
          </a:p>
          <a:p>
            <a:pPr>
              <a:defRPr sz="1000">
                <a:solidFill>
                  <a:srgbClr val="F8F9FA"/>
                </a:solidFill>
                <a:latin typeface="Consolas"/>
              </a:defRPr>
            </a:pPr>
            <a:r>
              <a:t># duplicate check</a:t>
            </a:r>
            <a:br/>
            <a:r>
              <a:t>df.duplicated().sum()</a:t>
            </a:r>
            <a:br/>
            <a:br/>
            <a:r>
              <a:t># missing values</a:t>
            </a:r>
            <a:br/>
            <a:r>
              <a:t>df.isna().sum()</a:t>
            </a:r>
            <a:br/>
            <a:br/>
            <a:r>
              <a:t># standardize text</a:t>
            </a:r>
            <a:br/>
            <a:r>
              <a:t>df["city"] = (</a:t>
            </a:r>
            <a:br/>
            <a:r>
              <a:t>    df["city"].astype(str)</a:t>
            </a:r>
            <a:br/>
            <a:r>
              <a:t>      .str.strip()</a:t>
            </a:r>
            <a:br/>
            <a:r>
              <a:t>      .str.title()</a:t>
            </a:r>
            <a:br/>
            <a:r>
              <a:t>)</a:t>
            </a:r>
            <a:br/>
            <a:br/>
            <a:r>
              <a:t># save cleaned table</a:t>
            </a:r>
            <a:br/>
            <a:r>
              <a:t>df.to_csv(clean_path, index=False)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72200" y="3154680"/>
            <a:ext cx="5212080" cy="2011680"/>
          </a:xfrm>
          <a:prstGeom prst="roundRect">
            <a:avLst/>
          </a:prstGeom>
          <a:solidFill>
            <a:srgbClr val="081523"/>
          </a:solidFill>
          <a:ln>
            <a:solidFill>
              <a:srgbClr val="4655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event_python_dataset_sca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5352" y="3227832"/>
            <a:ext cx="5065776" cy="1865376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6281928" y="3200400"/>
            <a:ext cx="4992624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D4AF37"/>
                </a:solidFill>
                <a:latin typeface="Aptos"/>
              </a:defRPr>
            </a:pPr>
            <a:r>
              <a:t>ACTUAL PROJECT DATA SCALE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05F6E"/>
                </a:solidFill>
                <a:latin typeface="Aptos"/>
              </a:defRPr>
            </a:pPr>
            <a:r>
              <a:t>EVENT INTELLIGENCE PLATFORM  •  Ajeet Kumar                                      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92608"/>
            <a:ext cx="89611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8F9FA"/>
                </a:solidFill>
                <a:latin typeface="Aptos Display"/>
              </a:defRPr>
            </a:pPr>
            <a:r>
              <a:t>Python: Exploratory Data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32104"/>
            <a:ext cx="9601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B4C0CC"/>
                </a:solidFill>
                <a:latin typeface="Aptos"/>
              </a:defRPr>
            </a:pPr>
            <a:r>
              <a:t>EDA was used to understand distributions and operational patterns before dashboarding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347472"/>
            <a:ext cx="1508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D4AF37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234440"/>
            <a:ext cx="3657600" cy="2331720"/>
          </a:xfrm>
          <a:prstGeom prst="roundRect">
            <a:avLst/>
          </a:prstGeom>
          <a:solidFill>
            <a:srgbClr val="081523"/>
          </a:solidFill>
          <a:ln>
            <a:solidFill>
              <a:srgbClr val="4655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event_python_customer_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" y="1307592"/>
            <a:ext cx="3511296" cy="218541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04088" y="1280160"/>
            <a:ext cx="3438144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D4AF37"/>
                </a:solidFill>
                <a:latin typeface="Aptos"/>
              </a:defRPr>
            </a:pPr>
            <a:r>
              <a:t>CUSTOMER AGE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1234440"/>
            <a:ext cx="3657600" cy="2331720"/>
          </a:xfrm>
          <a:prstGeom prst="roundRect">
            <a:avLst/>
          </a:prstGeom>
          <a:solidFill>
            <a:srgbClr val="081523"/>
          </a:solidFill>
          <a:ln>
            <a:solidFill>
              <a:srgbClr val="4655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event_python_booking_statu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07992" y="1307592"/>
            <a:ext cx="3511296" cy="2185415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44568" y="1280160"/>
            <a:ext cx="3438144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D4AF37"/>
                </a:solidFill>
                <a:latin typeface="Aptos"/>
              </a:defRPr>
            </a:pPr>
            <a:r>
              <a:t>BOOKING STATUS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75320" y="1234440"/>
            <a:ext cx="3337560" cy="2331720"/>
          </a:xfrm>
          <a:prstGeom prst="roundRect">
            <a:avLst/>
          </a:prstGeom>
          <a:solidFill>
            <a:srgbClr val="081523"/>
          </a:solidFill>
          <a:ln>
            <a:solidFill>
              <a:srgbClr val="4655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event_python_dataset_sca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48472" y="1307592"/>
            <a:ext cx="3191256" cy="218541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8385048" y="1280160"/>
            <a:ext cx="3118104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D4AF37"/>
                </a:solidFill>
                <a:latin typeface="Aptos"/>
              </a:defRPr>
            </a:pPr>
            <a:r>
              <a:t>DATASET SCALE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3977639"/>
            <a:ext cx="105156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F8F9FA"/>
                </a:solidFill>
                <a:latin typeface="Aptos"/>
              </a:defRPr>
            </a:pPr>
            <a:r>
              <a:t>• Distribution checks help identify unusual ranges and concentration.</a:t>
            </a:r>
          </a:p>
          <a:p>
            <a:pPr>
              <a:spcAft>
                <a:spcPts val="1000"/>
              </a:spcAft>
              <a:defRPr sz="1500">
                <a:solidFill>
                  <a:srgbClr val="F8F9FA"/>
                </a:solidFill>
                <a:latin typeface="Aptos"/>
              </a:defRPr>
            </a:pPr>
            <a:r>
              <a:t>• Categorical frequency analysis highlights booking and customer patterns.</a:t>
            </a:r>
          </a:p>
          <a:p>
            <a:pPr>
              <a:spcAft>
                <a:spcPts val="1000"/>
              </a:spcAft>
              <a:defRPr sz="1500">
                <a:solidFill>
                  <a:srgbClr val="F8F9FA"/>
                </a:solidFill>
                <a:latin typeface="Aptos"/>
              </a:defRPr>
            </a:pPr>
            <a:r>
              <a:t>• The cleaned relational data was then ready for SQL analysis and Power BI.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05F6E"/>
                </a:solidFill>
                <a:latin typeface="Aptos"/>
              </a:defRPr>
            </a:pPr>
            <a:r>
              <a:t>EVENT INTELLIGENCE PLATFORM  •  Ajeet Kumar                                      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92608"/>
            <a:ext cx="89611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8F9FA"/>
                </a:solidFill>
                <a:latin typeface="Aptos Display"/>
              </a:defRPr>
            </a:pPr>
            <a:r>
              <a:t>SQL Analysis: 50 Business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32104"/>
            <a:ext cx="9601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B4C0CC"/>
                </a:solidFill>
                <a:latin typeface="Aptos"/>
              </a:defRPr>
            </a:pPr>
            <a:r>
              <a:t>MySQL was used as the relational analysis layer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347472"/>
            <a:ext cx="1508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D4AF37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234440"/>
            <a:ext cx="5257800" cy="758952"/>
          </a:xfrm>
          <a:prstGeom prst="roundRect">
            <a:avLst/>
          </a:prstGeom>
          <a:solidFill>
            <a:srgbClr val="0A1C2D"/>
          </a:solidFill>
          <a:ln w="12700">
            <a:solidFill>
              <a:srgbClr val="3A4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D4AF37"/>
                </a:solidFill>
                <a:latin typeface="Aptos"/>
              </a:defRPr>
            </a:pPr>
            <a:r>
              <a:t>Customer Analysis</a:t>
            </a:r>
          </a:p>
          <a:p>
            <a:pPr>
              <a:spcBef>
                <a:spcPts val="500"/>
              </a:spcBef>
              <a:defRPr sz="2300" b="1">
                <a:solidFill>
                  <a:srgbClr val="F8F9FA"/>
                </a:solidFill>
                <a:latin typeface="Aptos Display"/>
              </a:defRPr>
            </a:pPr>
            <a:r>
              <a:t>Q1–Q5</a:t>
            </a:r>
          </a:p>
          <a:p>
            <a:pPr>
              <a:spcBef>
                <a:spcPts val="500"/>
              </a:spcBef>
              <a:defRPr sz="900">
                <a:solidFill>
                  <a:srgbClr val="B4C0CC"/>
                </a:solidFill>
                <a:latin typeface="Aptos"/>
              </a:defRPr>
            </a:pPr>
            <a:r>
              <a:t>customers • city • gender • age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234440"/>
            <a:ext cx="45720" cy="758952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309360" y="1234440"/>
            <a:ext cx="5257800" cy="758952"/>
          </a:xfrm>
          <a:prstGeom prst="roundRect">
            <a:avLst/>
          </a:prstGeom>
          <a:solidFill>
            <a:srgbClr val="0A1C2D"/>
          </a:solidFill>
          <a:ln w="12700">
            <a:solidFill>
              <a:srgbClr val="3A4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D4AF37"/>
                </a:solidFill>
                <a:latin typeface="Aptos"/>
              </a:defRPr>
            </a:pPr>
            <a:r>
              <a:t>Event Analysis</a:t>
            </a:r>
          </a:p>
          <a:p>
            <a:pPr>
              <a:spcBef>
                <a:spcPts val="500"/>
              </a:spcBef>
              <a:defRPr sz="2300" b="1">
                <a:solidFill>
                  <a:srgbClr val="F8F9FA"/>
                </a:solidFill>
                <a:latin typeface="Aptos Display"/>
              </a:defRPr>
            </a:pPr>
            <a:r>
              <a:t>Q6–Q10</a:t>
            </a:r>
          </a:p>
          <a:p>
            <a:pPr>
              <a:spcBef>
                <a:spcPts val="500"/>
              </a:spcBef>
              <a:defRPr sz="900">
                <a:solidFill>
                  <a:srgbClr val="B4C0CC"/>
                </a:solidFill>
                <a:latin typeface="Aptos"/>
              </a:defRPr>
            </a:pPr>
            <a:r>
              <a:t>events • categories • ticket price • organizers</a:t>
            </a:r>
          </a:p>
        </p:txBody>
      </p:sp>
      <p:sp>
        <p:nvSpPr>
          <p:cNvPr id="9" name="Rectangle 8"/>
          <p:cNvSpPr/>
          <p:nvPr/>
        </p:nvSpPr>
        <p:spPr>
          <a:xfrm>
            <a:off x="6309360" y="1234440"/>
            <a:ext cx="45720" cy="758952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40080" y="2167128"/>
            <a:ext cx="5257800" cy="758952"/>
          </a:xfrm>
          <a:prstGeom prst="roundRect">
            <a:avLst/>
          </a:prstGeom>
          <a:solidFill>
            <a:srgbClr val="0A1C2D"/>
          </a:solidFill>
          <a:ln w="12700">
            <a:solidFill>
              <a:srgbClr val="3A4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D4AF37"/>
                </a:solidFill>
                <a:latin typeface="Aptos"/>
              </a:defRPr>
            </a:pPr>
            <a:r>
              <a:t>Venue Analysis</a:t>
            </a:r>
          </a:p>
          <a:p>
            <a:pPr>
              <a:spcBef>
                <a:spcPts val="500"/>
              </a:spcBef>
              <a:defRPr sz="2300" b="1">
                <a:solidFill>
                  <a:srgbClr val="F8F9FA"/>
                </a:solidFill>
                <a:latin typeface="Aptos Display"/>
              </a:defRPr>
            </a:pPr>
            <a:r>
              <a:t>Q11–Q13</a:t>
            </a:r>
          </a:p>
          <a:p>
            <a:pPr>
              <a:spcBef>
                <a:spcPts val="500"/>
              </a:spcBef>
              <a:defRPr sz="900">
                <a:solidFill>
                  <a:srgbClr val="B4C0CC"/>
                </a:solidFill>
                <a:latin typeface="Aptos"/>
              </a:defRPr>
            </a:pPr>
            <a:r>
              <a:t>venues • capacity • cities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2167128"/>
            <a:ext cx="45720" cy="758952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309360" y="2167128"/>
            <a:ext cx="5257800" cy="758952"/>
          </a:xfrm>
          <a:prstGeom prst="roundRect">
            <a:avLst/>
          </a:prstGeom>
          <a:solidFill>
            <a:srgbClr val="0A1C2D"/>
          </a:solidFill>
          <a:ln w="12700">
            <a:solidFill>
              <a:srgbClr val="3A4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D4AF37"/>
                </a:solidFill>
                <a:latin typeface="Aptos"/>
              </a:defRPr>
            </a:pPr>
            <a:r>
              <a:t>Booking Analysis</a:t>
            </a:r>
          </a:p>
          <a:p>
            <a:pPr>
              <a:spcBef>
                <a:spcPts val="500"/>
              </a:spcBef>
              <a:defRPr sz="2300" b="1">
                <a:solidFill>
                  <a:srgbClr val="F8F9FA"/>
                </a:solidFill>
                <a:latin typeface="Aptos Display"/>
              </a:defRPr>
            </a:pPr>
            <a:r>
              <a:t>Q14–Q18</a:t>
            </a:r>
          </a:p>
          <a:p>
            <a:pPr>
              <a:spcBef>
                <a:spcPts val="500"/>
              </a:spcBef>
              <a:defRPr sz="900">
                <a:solidFill>
                  <a:srgbClr val="B4C0CC"/>
                </a:solidFill>
                <a:latin typeface="Aptos"/>
              </a:defRPr>
            </a:pPr>
            <a:r>
              <a:t>bookings • status • channel • monthly trend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09360" y="2167128"/>
            <a:ext cx="45720" cy="758952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40080" y="3099816"/>
            <a:ext cx="5257800" cy="758952"/>
          </a:xfrm>
          <a:prstGeom prst="roundRect">
            <a:avLst/>
          </a:prstGeom>
          <a:solidFill>
            <a:srgbClr val="0A1C2D"/>
          </a:solidFill>
          <a:ln w="12700">
            <a:solidFill>
              <a:srgbClr val="3A4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D4AF37"/>
                </a:solidFill>
                <a:latin typeface="Aptos"/>
              </a:defRPr>
            </a:pPr>
            <a:r>
              <a:t>Ticket Analysis</a:t>
            </a:r>
          </a:p>
          <a:p>
            <a:pPr>
              <a:spcBef>
                <a:spcPts val="500"/>
              </a:spcBef>
              <a:defRPr sz="2300" b="1">
                <a:solidFill>
                  <a:srgbClr val="F8F9FA"/>
                </a:solidFill>
                <a:latin typeface="Aptos Display"/>
              </a:defRPr>
            </a:pPr>
            <a:r>
              <a:t>Q19–Q23</a:t>
            </a:r>
          </a:p>
          <a:p>
            <a:pPr>
              <a:spcBef>
                <a:spcPts val="500"/>
              </a:spcBef>
              <a:defRPr sz="900">
                <a:solidFill>
                  <a:srgbClr val="B4C0CC"/>
                </a:solidFill>
                <a:latin typeface="Aptos"/>
              </a:defRPr>
            </a:pPr>
            <a:r>
              <a:t>ticket type • seat category • discount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3099816"/>
            <a:ext cx="45720" cy="758952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309360" y="3099816"/>
            <a:ext cx="5257800" cy="758952"/>
          </a:xfrm>
          <a:prstGeom prst="roundRect">
            <a:avLst/>
          </a:prstGeom>
          <a:solidFill>
            <a:srgbClr val="0A1C2D"/>
          </a:solidFill>
          <a:ln w="12700">
            <a:solidFill>
              <a:srgbClr val="3A4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D4AF37"/>
                </a:solidFill>
                <a:latin typeface="Aptos"/>
              </a:defRPr>
            </a:pPr>
            <a:r>
              <a:t>Revenue &amp; Payments</a:t>
            </a:r>
          </a:p>
          <a:p>
            <a:pPr>
              <a:spcBef>
                <a:spcPts val="500"/>
              </a:spcBef>
              <a:defRPr sz="2300" b="1">
                <a:solidFill>
                  <a:srgbClr val="F8F9FA"/>
                </a:solidFill>
                <a:latin typeface="Aptos Display"/>
              </a:defRPr>
            </a:pPr>
            <a:r>
              <a:t>Q24–Q28</a:t>
            </a:r>
          </a:p>
          <a:p>
            <a:pPr>
              <a:spcBef>
                <a:spcPts val="500"/>
              </a:spcBef>
              <a:defRPr sz="900">
                <a:solidFill>
                  <a:srgbClr val="B4C0CC"/>
                </a:solidFill>
                <a:latin typeface="Aptos"/>
              </a:defRPr>
            </a:pPr>
            <a:r>
              <a:t>revenue • payment status • methods • top events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09360" y="3099816"/>
            <a:ext cx="45720" cy="758952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40080" y="4032504"/>
            <a:ext cx="5257800" cy="758952"/>
          </a:xfrm>
          <a:prstGeom prst="roundRect">
            <a:avLst/>
          </a:prstGeom>
          <a:solidFill>
            <a:srgbClr val="0A1C2D"/>
          </a:solidFill>
          <a:ln w="12700">
            <a:solidFill>
              <a:srgbClr val="3A4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D4AF37"/>
                </a:solidFill>
                <a:latin typeface="Aptos"/>
              </a:defRPr>
            </a:pPr>
            <a:r>
              <a:t>Category Performance</a:t>
            </a:r>
          </a:p>
          <a:p>
            <a:pPr>
              <a:spcBef>
                <a:spcPts val="500"/>
              </a:spcBef>
              <a:defRPr sz="2300" b="1">
                <a:solidFill>
                  <a:srgbClr val="F8F9FA"/>
                </a:solidFill>
                <a:latin typeface="Aptos Display"/>
              </a:defRPr>
            </a:pPr>
            <a:r>
              <a:t>Q29–Q30</a:t>
            </a:r>
          </a:p>
          <a:p>
            <a:pPr>
              <a:spcBef>
                <a:spcPts val="500"/>
              </a:spcBef>
              <a:defRPr sz="900">
                <a:solidFill>
                  <a:srgbClr val="B4C0CC"/>
                </a:solidFill>
                <a:latin typeface="Aptos"/>
              </a:defRPr>
            </a:pPr>
            <a:r>
              <a:t>category revenue • revenue share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4032504"/>
            <a:ext cx="45720" cy="758952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309360" y="4032504"/>
            <a:ext cx="5257800" cy="758952"/>
          </a:xfrm>
          <a:prstGeom prst="roundRect">
            <a:avLst/>
          </a:prstGeom>
          <a:solidFill>
            <a:srgbClr val="0A1C2D"/>
          </a:solidFill>
          <a:ln w="12700">
            <a:solidFill>
              <a:srgbClr val="3A4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D4AF37"/>
                </a:solidFill>
                <a:latin typeface="Aptos"/>
              </a:defRPr>
            </a:pPr>
            <a:r>
              <a:t>Customer Behaviour</a:t>
            </a:r>
          </a:p>
          <a:p>
            <a:pPr>
              <a:spcBef>
                <a:spcPts val="500"/>
              </a:spcBef>
              <a:defRPr sz="2300" b="1">
                <a:solidFill>
                  <a:srgbClr val="F8F9FA"/>
                </a:solidFill>
                <a:latin typeface="Aptos Display"/>
              </a:defRPr>
            </a:pPr>
            <a:r>
              <a:t>Q31–Q34</a:t>
            </a:r>
          </a:p>
          <a:p>
            <a:pPr>
              <a:spcBef>
                <a:spcPts val="500"/>
              </a:spcBef>
              <a:defRPr sz="900">
                <a:solidFill>
                  <a:srgbClr val="B4C0CC"/>
                </a:solidFill>
                <a:latin typeface="Aptos"/>
              </a:defRPr>
            </a:pPr>
            <a:r>
              <a:t>repeat customers • segments • age groups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09360" y="4032504"/>
            <a:ext cx="45720" cy="758952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40080" y="4965192"/>
            <a:ext cx="5257800" cy="758952"/>
          </a:xfrm>
          <a:prstGeom prst="roundRect">
            <a:avLst/>
          </a:prstGeom>
          <a:solidFill>
            <a:srgbClr val="0A1C2D"/>
          </a:solidFill>
          <a:ln w="12700">
            <a:solidFill>
              <a:srgbClr val="3A4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D4AF37"/>
                </a:solidFill>
                <a:latin typeface="Aptos"/>
              </a:defRPr>
            </a:pPr>
            <a:r>
              <a:t>Attendance</a:t>
            </a:r>
          </a:p>
          <a:p>
            <a:pPr>
              <a:spcBef>
                <a:spcPts val="500"/>
              </a:spcBef>
              <a:defRPr sz="2300" b="1">
                <a:solidFill>
                  <a:srgbClr val="F8F9FA"/>
                </a:solidFill>
                <a:latin typeface="Aptos Display"/>
              </a:defRPr>
            </a:pPr>
            <a:r>
              <a:t>Q35–Q37</a:t>
            </a:r>
          </a:p>
          <a:p>
            <a:pPr>
              <a:spcBef>
                <a:spcPts val="500"/>
              </a:spcBef>
              <a:defRPr sz="900">
                <a:solidFill>
                  <a:srgbClr val="B4C0CC"/>
                </a:solidFill>
                <a:latin typeface="Aptos"/>
              </a:defRPr>
            </a:pPr>
            <a:r>
              <a:t>status • attendance • attendance rate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" y="4965192"/>
            <a:ext cx="45720" cy="758952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309360" y="4965192"/>
            <a:ext cx="5257800" cy="758952"/>
          </a:xfrm>
          <a:prstGeom prst="roundRect">
            <a:avLst/>
          </a:prstGeom>
          <a:solidFill>
            <a:srgbClr val="0A1C2D"/>
          </a:solidFill>
          <a:ln w="12700">
            <a:solidFill>
              <a:srgbClr val="3A4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D4AF37"/>
                </a:solidFill>
                <a:latin typeface="Aptos"/>
              </a:defRPr>
            </a:pPr>
            <a:r>
              <a:t>Advanced / Organizer</a:t>
            </a:r>
          </a:p>
          <a:p>
            <a:pPr>
              <a:spcBef>
                <a:spcPts val="500"/>
              </a:spcBef>
              <a:defRPr sz="2300" b="1">
                <a:solidFill>
                  <a:srgbClr val="F8F9FA"/>
                </a:solidFill>
                <a:latin typeface="Aptos Display"/>
              </a:defRPr>
            </a:pPr>
            <a:r>
              <a:t>Q38–Q50</a:t>
            </a:r>
          </a:p>
          <a:p>
            <a:pPr>
              <a:spcBef>
                <a:spcPts val="500"/>
              </a:spcBef>
              <a:defRPr sz="900">
                <a:solidFill>
                  <a:srgbClr val="B4C0CC"/>
                </a:solidFill>
                <a:latin typeface="Aptos"/>
              </a:defRPr>
            </a:pPr>
            <a:r>
              <a:t>ranking • CTE • running total • conversion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309360" y="4965192"/>
            <a:ext cx="45720" cy="758952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94360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05F6E"/>
                </a:solidFill>
                <a:latin typeface="Aptos"/>
              </a:defRPr>
            </a:pPr>
            <a:r>
              <a:t>EVENT INTELLIGENCE PLATFORM  •  Ajeet Kumar                                      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92608"/>
            <a:ext cx="89611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8F9FA"/>
                </a:solidFill>
                <a:latin typeface="Aptos Display"/>
              </a:defRPr>
            </a:pPr>
            <a:r>
              <a:t>SQL: Core Commands &amp; Analytical Patterns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32104"/>
            <a:ext cx="9601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B4C0CC"/>
                </a:solidFill>
                <a:latin typeface="Aptos"/>
              </a:defRPr>
            </a:pPr>
            <a:r>
              <a:t>Examples taken from the Event Intelligence SQL workflow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347472"/>
            <a:ext cx="1508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D4AF37"/>
                </a:solidFill>
                <a:latin typeface="Aptos"/>
              </a:defRPr>
            </a:pPr>
            <a:r>
              <a:t>07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234440"/>
            <a:ext cx="5440680" cy="1965960"/>
          </a:xfrm>
          <a:prstGeom prst="roundRect">
            <a:avLst/>
          </a:prstGeom>
          <a:solidFill>
            <a:srgbClr val="0C1724"/>
          </a:solidFill>
          <a:ln>
            <a:solidFill>
              <a:srgbClr val="3C4B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  <a:defRPr sz="900" b="1">
                <a:solidFill>
                  <a:srgbClr val="D4AF37"/>
                </a:solidFill>
                <a:latin typeface="Aptos"/>
              </a:defRPr>
            </a:pPr>
            <a:r>
              <a:t>AGGREGATION + GROUP BY</a:t>
            </a:r>
          </a:p>
          <a:p>
            <a:pPr>
              <a:defRPr sz="1100">
                <a:solidFill>
                  <a:srgbClr val="F8F9FA"/>
                </a:solidFill>
                <a:latin typeface="Consolas"/>
              </a:defRPr>
            </a:pPr>
            <a:r>
              <a:t>-- monthly booking trend</a:t>
            </a:r>
            <a:br/>
            <a:r>
              <a:t>SELECT</a:t>
            </a:r>
            <a:br/>
            <a:r>
              <a:t>    DATE_FORMAT(booking_date,'%Y-%m') AS month,</a:t>
            </a:r>
            <a:br/>
            <a:r>
              <a:t>    COUNT(*) AS total_bookings</a:t>
            </a:r>
            <a:br/>
            <a:r>
              <a:t>FROM bookings</a:t>
            </a:r>
            <a:br/>
            <a:r>
              <a:t>GROUP BY month</a:t>
            </a:r>
            <a:br/>
            <a:r>
              <a:t>ORDER BY month;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72200" y="1234440"/>
            <a:ext cx="5440680" cy="1965960"/>
          </a:xfrm>
          <a:prstGeom prst="roundRect">
            <a:avLst/>
          </a:prstGeom>
          <a:solidFill>
            <a:srgbClr val="0C1724"/>
          </a:solidFill>
          <a:ln>
            <a:solidFill>
              <a:srgbClr val="3C4B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  <a:defRPr sz="900" b="1">
                <a:solidFill>
                  <a:srgbClr val="D4AF37"/>
                </a:solidFill>
                <a:latin typeface="Aptos"/>
              </a:defRPr>
            </a:pPr>
            <a:r>
              <a:t>CTE + DENSE_RANK()</a:t>
            </a:r>
          </a:p>
          <a:p>
            <a:pPr>
              <a:defRPr sz="969">
                <a:solidFill>
                  <a:srgbClr val="F8F9FA"/>
                </a:solidFill>
                <a:latin typeface="Consolas"/>
              </a:defRPr>
            </a:pPr>
            <a:r>
              <a:t>-- top 3 events in each category</a:t>
            </a:r>
            <a:br/>
            <a:r>
              <a:t>WITH ranked_events AS (</a:t>
            </a:r>
            <a:br/>
            <a:r>
              <a:t>    SELECT event_id, category_id,</a:t>
            </a:r>
            <a:br/>
            <a:r>
              <a:t>           revenue,</a:t>
            </a:r>
            <a:br/>
            <a:r>
              <a:t>           DENSE_RANK() OVER(</a:t>
            </a:r>
            <a:br/>
            <a:r>
              <a:t>             PARTITION BY category_id</a:t>
            </a:r>
            <a:br/>
            <a:r>
              <a:t>             ORDER BY revenue DESC</a:t>
            </a:r>
            <a:br/>
            <a:r>
              <a:t>           ) AS rn</a:t>
            </a:r>
            <a:br/>
            <a:r>
              <a:t>    FROM event_revenue</a:t>
            </a:r>
            <a:br/>
            <a:r>
              <a:t>)</a:t>
            </a:r>
            <a:br/>
            <a:r>
              <a:t>SELECT *</a:t>
            </a:r>
            <a:br/>
            <a:r>
              <a:t>FROM ranked_events</a:t>
            </a:r>
            <a:br/>
            <a:r>
              <a:t>WHERE rn &lt;= 3;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3520440"/>
            <a:ext cx="5440680" cy="1965960"/>
          </a:xfrm>
          <a:prstGeom prst="roundRect">
            <a:avLst/>
          </a:prstGeom>
          <a:solidFill>
            <a:srgbClr val="0C1724"/>
          </a:solidFill>
          <a:ln>
            <a:solidFill>
              <a:srgbClr val="3C4B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  <a:defRPr sz="900" b="1">
                <a:solidFill>
                  <a:srgbClr val="D4AF37"/>
                </a:solidFill>
                <a:latin typeface="Aptos"/>
              </a:defRPr>
            </a:pPr>
            <a:r>
              <a:t>WINDOW FUNCTION</a:t>
            </a:r>
          </a:p>
          <a:p>
            <a:pPr>
              <a:defRPr sz="1050">
                <a:solidFill>
                  <a:srgbClr val="F8F9FA"/>
                </a:solidFill>
                <a:latin typeface="Consolas"/>
              </a:defRPr>
            </a:pPr>
            <a:r>
              <a:t>-- monthly revenue + running total</a:t>
            </a:r>
            <a:br/>
            <a:r>
              <a:t>SELECT</a:t>
            </a:r>
            <a:br/>
            <a:r>
              <a:t>    month,</a:t>
            </a:r>
            <a:br/>
            <a:r>
              <a:t>    revenue,</a:t>
            </a:r>
            <a:br/>
            <a:r>
              <a:t>    SUM(revenue) OVER(</a:t>
            </a:r>
            <a:br/>
            <a:r>
              <a:t>        ORDER BY month</a:t>
            </a:r>
            <a:br/>
            <a:r>
              <a:t>    ) AS running_revenue</a:t>
            </a:r>
            <a:br/>
            <a:r>
              <a:t>FROM monthly_revenue;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3520440"/>
            <a:ext cx="5440680" cy="1965960"/>
          </a:xfrm>
          <a:prstGeom prst="roundRect">
            <a:avLst/>
          </a:prstGeom>
          <a:solidFill>
            <a:srgbClr val="0C1724"/>
          </a:solidFill>
          <a:ln>
            <a:solidFill>
              <a:srgbClr val="3C4B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  <a:defRPr sz="900" b="1">
                <a:solidFill>
                  <a:srgbClr val="D4AF37"/>
                </a:solidFill>
                <a:latin typeface="Aptos"/>
              </a:defRPr>
            </a:pPr>
            <a:r>
              <a:t>HAVING + BUSINESS RULE</a:t>
            </a:r>
          </a:p>
          <a:p>
            <a:pPr>
              <a:defRPr sz="1050">
                <a:solidFill>
                  <a:srgbClr val="F8F9FA"/>
                </a:solidFill>
                <a:latin typeface="Consolas"/>
              </a:defRPr>
            </a:pPr>
            <a:r>
              <a:t>-- customer booking count</a:t>
            </a:r>
            <a:br/>
            <a:r>
              <a:t>SELECT customer_id,</a:t>
            </a:r>
            <a:br/>
            <a:r>
              <a:t>       COUNT(booking_id) AS bookings</a:t>
            </a:r>
            <a:br/>
            <a:r>
              <a:t>FROM bookings</a:t>
            </a:r>
            <a:br/>
            <a:r>
              <a:t>GROUP BY customer_id</a:t>
            </a:r>
            <a:br/>
            <a:r>
              <a:t>HAVING COUNT(booking_id) &gt; 1</a:t>
            </a:r>
            <a:br/>
            <a:r>
              <a:t>ORDER BY bookings DESC;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05F6E"/>
                </a:solidFill>
                <a:latin typeface="Aptos"/>
              </a:defRPr>
            </a:pPr>
            <a:r>
              <a:t>EVENT INTELLIGENCE PLATFORM  •  Ajeet Kumar                                      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92608"/>
            <a:ext cx="89611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8F9FA"/>
                </a:solidFill>
                <a:latin typeface="Aptos Display"/>
              </a:defRPr>
            </a:pPr>
            <a:r>
              <a:t>MySQL: Relational Data Layer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32104"/>
            <a:ext cx="9601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B4C0CC"/>
                </a:solidFill>
                <a:latin typeface="Aptos"/>
              </a:defRPr>
            </a:pPr>
            <a:r>
              <a:t>Primary keys and foreign keys preserve the business relationships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347472"/>
            <a:ext cx="1508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D4AF37"/>
                </a:solidFill>
                <a:latin typeface="Aptos"/>
              </a:defRPr>
            </a:pPr>
            <a:r>
              <a:t>08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234440"/>
            <a:ext cx="6400800" cy="4480560"/>
          </a:xfrm>
          <a:prstGeom prst="roundRect">
            <a:avLst/>
          </a:prstGeom>
          <a:solidFill>
            <a:srgbClr val="0C1724"/>
          </a:solidFill>
          <a:ln>
            <a:solidFill>
              <a:srgbClr val="3C4B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  <a:defRPr sz="900" b="1">
                <a:solidFill>
                  <a:srgbClr val="D4AF37"/>
                </a:solidFill>
                <a:latin typeface="Aptos"/>
              </a:defRPr>
            </a:pPr>
            <a:r>
              <a:t>SCHEMA EXAMPLE</a:t>
            </a:r>
          </a:p>
          <a:p>
            <a:pPr>
              <a:defRPr sz="960">
                <a:solidFill>
                  <a:srgbClr val="F8F9FA"/>
                </a:solidFill>
                <a:latin typeface="Consolas"/>
              </a:defRPr>
            </a:pPr>
            <a:r>
              <a:t>CREATE DATABASE IF NOT EXISTS event_intelligence;</a:t>
            </a:r>
            <a:br/>
            <a:r>
              <a:t>USE event_intelligence;</a:t>
            </a:r>
            <a:br/>
            <a:br/>
            <a:r>
              <a:t>CREATE TABLE events (</a:t>
            </a:r>
            <a:br/>
            <a:r>
              <a:t>    event_id INT NOT NULL,</a:t>
            </a:r>
            <a:br/>
            <a:r>
              <a:t>    category_id INT,</a:t>
            </a:r>
            <a:br/>
            <a:r>
              <a:t>    venue_id INT,</a:t>
            </a:r>
            <a:br/>
            <a:r>
              <a:t>    organizer_id INT,</a:t>
            </a:r>
            <a:br/>
            <a:r>
              <a:t>    event_date DATE,</a:t>
            </a:r>
            <a:br/>
            <a:r>
              <a:t>    base_ticket_price DECIMAL(12,2),</a:t>
            </a:r>
            <a:br/>
            <a:r>
              <a:t>    event_status VARCHAR(100),</a:t>
            </a:r>
            <a:br/>
            <a:r>
              <a:t>    PRIMARY KEY (event_id),</a:t>
            </a:r>
            <a:br/>
            <a:r>
              <a:t>    FOREIGN KEY (category_id)</a:t>
            </a:r>
            <a:br/>
            <a:r>
              <a:t>        REFERENCES event_categories(category_id),</a:t>
            </a:r>
            <a:br/>
            <a:r>
              <a:t>    FOREIGN KEY (venue_id)</a:t>
            </a:r>
            <a:br/>
            <a:r>
              <a:t>        REFERENCES venues(venue_id),</a:t>
            </a:r>
            <a:br/>
            <a:r>
              <a:t>    FOREIGN KEY (organizer_id)</a:t>
            </a:r>
            <a:br/>
            <a:r>
              <a:t>        REFERENCES organizers(organizer_id)</a:t>
            </a:r>
            <a:br/>
            <a:r>
              <a:t>);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06640" y="1325880"/>
            <a:ext cx="4069080" cy="960120"/>
          </a:xfrm>
          <a:prstGeom prst="roundRect">
            <a:avLst/>
          </a:prstGeom>
          <a:solidFill>
            <a:srgbClr val="0A1C2D"/>
          </a:solidFill>
          <a:ln w="12700">
            <a:solidFill>
              <a:srgbClr val="3A4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D4AF37"/>
                </a:solidFill>
                <a:latin typeface="Aptos"/>
              </a:defRPr>
            </a:pPr>
            <a:r>
              <a:t>RELATIONSHIP</a:t>
            </a:r>
          </a:p>
          <a:p>
            <a:pPr>
              <a:spcBef>
                <a:spcPts val="500"/>
              </a:spcBef>
              <a:defRPr sz="2300" b="1">
                <a:solidFill>
                  <a:srgbClr val="F8F9FA"/>
                </a:solidFill>
                <a:latin typeface="Aptos Display"/>
              </a:defRPr>
            </a:pPr>
            <a:r>
              <a:t>Customers → Bookings</a:t>
            </a:r>
          </a:p>
          <a:p>
            <a:pPr>
              <a:spcBef>
                <a:spcPts val="500"/>
              </a:spcBef>
              <a:defRPr sz="900">
                <a:solidFill>
                  <a:srgbClr val="B4C0CC"/>
                </a:solidFill>
                <a:latin typeface="Aptos"/>
              </a:defRPr>
            </a:pPr>
            <a:r>
              <a:t>Customer behaviour and booking analysis</a:t>
            </a:r>
          </a:p>
        </p:txBody>
      </p:sp>
      <p:sp>
        <p:nvSpPr>
          <p:cNvPr id="8" name="Rectangle 7"/>
          <p:cNvSpPr/>
          <p:nvPr/>
        </p:nvSpPr>
        <p:spPr>
          <a:xfrm>
            <a:off x="7406640" y="1325880"/>
            <a:ext cx="45720" cy="96012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406640" y="2514600"/>
            <a:ext cx="4069080" cy="960120"/>
          </a:xfrm>
          <a:prstGeom prst="roundRect">
            <a:avLst/>
          </a:prstGeom>
          <a:solidFill>
            <a:srgbClr val="0A1C2D"/>
          </a:solidFill>
          <a:ln w="12700">
            <a:solidFill>
              <a:srgbClr val="3A4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D4AF37"/>
                </a:solidFill>
                <a:latin typeface="Aptos"/>
              </a:defRPr>
            </a:pPr>
            <a:r>
              <a:t>RELATIONSHIP</a:t>
            </a:r>
          </a:p>
          <a:p>
            <a:pPr>
              <a:spcBef>
                <a:spcPts val="500"/>
              </a:spcBef>
              <a:defRPr sz="2300" b="1">
                <a:solidFill>
                  <a:srgbClr val="F8F9FA"/>
                </a:solidFill>
                <a:latin typeface="Aptos Display"/>
              </a:defRPr>
            </a:pPr>
            <a:r>
              <a:t>Bookings → Payments</a:t>
            </a:r>
          </a:p>
          <a:p>
            <a:pPr>
              <a:spcBef>
                <a:spcPts val="500"/>
              </a:spcBef>
              <a:defRPr sz="900">
                <a:solidFill>
                  <a:srgbClr val="B4C0CC"/>
                </a:solidFill>
                <a:latin typeface="Aptos"/>
              </a:defRPr>
            </a:pPr>
            <a:r>
              <a:t>Revenue and payment analysis</a:t>
            </a:r>
          </a:p>
        </p:txBody>
      </p:sp>
      <p:sp>
        <p:nvSpPr>
          <p:cNvPr id="10" name="Rectangle 9"/>
          <p:cNvSpPr/>
          <p:nvPr/>
        </p:nvSpPr>
        <p:spPr>
          <a:xfrm>
            <a:off x="7406640" y="2514600"/>
            <a:ext cx="45720" cy="96012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406640" y="3703320"/>
            <a:ext cx="4069080" cy="960120"/>
          </a:xfrm>
          <a:prstGeom prst="roundRect">
            <a:avLst/>
          </a:prstGeom>
          <a:solidFill>
            <a:srgbClr val="0A1C2D"/>
          </a:solidFill>
          <a:ln w="12700">
            <a:solidFill>
              <a:srgbClr val="3A4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D4AF37"/>
                </a:solidFill>
                <a:latin typeface="Aptos"/>
              </a:defRPr>
            </a:pPr>
            <a:r>
              <a:t>RELATIONSHIP</a:t>
            </a:r>
          </a:p>
          <a:p>
            <a:pPr>
              <a:spcBef>
                <a:spcPts val="500"/>
              </a:spcBef>
              <a:defRPr sz="2300" b="1">
                <a:solidFill>
                  <a:srgbClr val="F8F9FA"/>
                </a:solidFill>
                <a:latin typeface="Aptos Display"/>
              </a:defRPr>
            </a:pPr>
            <a:r>
              <a:t>Tickets → Events</a:t>
            </a:r>
          </a:p>
          <a:p>
            <a:pPr>
              <a:spcBef>
                <a:spcPts val="500"/>
              </a:spcBef>
              <a:defRPr sz="900">
                <a:solidFill>
                  <a:srgbClr val="B4C0CC"/>
                </a:solidFill>
                <a:latin typeface="Aptos"/>
              </a:defRPr>
            </a:pPr>
            <a:r>
              <a:t>Ticket pricing and event performance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406640" y="3703320"/>
            <a:ext cx="45720" cy="96012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406640" y="4892040"/>
            <a:ext cx="4069080" cy="960120"/>
          </a:xfrm>
          <a:prstGeom prst="roundRect">
            <a:avLst/>
          </a:prstGeom>
          <a:solidFill>
            <a:srgbClr val="0A1C2D"/>
          </a:solidFill>
          <a:ln w="12700">
            <a:solidFill>
              <a:srgbClr val="3A4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D4AF37"/>
                </a:solidFill>
                <a:latin typeface="Aptos"/>
              </a:defRPr>
            </a:pPr>
            <a:r>
              <a:t>RELATIONSHIP</a:t>
            </a:r>
          </a:p>
          <a:p>
            <a:pPr>
              <a:spcBef>
                <a:spcPts val="500"/>
              </a:spcBef>
              <a:defRPr sz="2300" b="1">
                <a:solidFill>
                  <a:srgbClr val="F8F9FA"/>
                </a:solidFill>
                <a:latin typeface="Aptos Display"/>
              </a:defRPr>
            </a:pPr>
            <a:r>
              <a:t>Events → Venue / Organizer / Category</a:t>
            </a:r>
          </a:p>
          <a:p>
            <a:pPr>
              <a:spcBef>
                <a:spcPts val="500"/>
              </a:spcBef>
              <a:defRPr sz="900">
                <a:solidFill>
                  <a:srgbClr val="B4C0CC"/>
                </a:solidFill>
                <a:latin typeface="Aptos"/>
              </a:defRPr>
            </a:pPr>
            <a:r>
              <a:t>Operational and event analysis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406640" y="4892040"/>
            <a:ext cx="45720" cy="96012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05F6E"/>
                </a:solidFill>
                <a:latin typeface="Aptos"/>
              </a:defRPr>
            </a:pPr>
            <a:r>
              <a:t>EVENT INTELLIGENCE PLATFORM  •  Ajeet Kumar                                      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92608"/>
            <a:ext cx="89611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8F9FA"/>
                </a:solidFill>
                <a:latin typeface="Aptos Display"/>
              </a:defRPr>
            </a:pPr>
            <a:r>
              <a:t>Power BI: Executive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32104"/>
            <a:ext cx="9601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B4C0CC"/>
                </a:solidFill>
                <a:latin typeface="Aptos"/>
              </a:defRPr>
            </a:pPr>
            <a:r>
              <a:t>Interactive dashboard built from the relational analytics layer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347472"/>
            <a:ext cx="1508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D4AF37"/>
                </a:solidFill>
                <a:latin typeface="Aptos"/>
              </a:defRPr>
            </a:pPr>
            <a:r>
              <a:t>09</a:t>
            </a:r>
          </a:p>
        </p:txBody>
      </p:sp>
      <p:pic>
        <p:nvPicPr>
          <p:cNvPr id="6" name="Picture 5" descr="Screenshot 2026-09-29 at 12.56.59 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143000"/>
            <a:ext cx="11384280" cy="51663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94360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05F6E"/>
                </a:solidFill>
                <a:latin typeface="Aptos"/>
              </a:defRPr>
            </a:pPr>
            <a:r>
              <a:t>EVENT INTELLIGENCE PLATFORM  •  Ajeet Kumar                                     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92608"/>
            <a:ext cx="89611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8F9FA"/>
                </a:solidFill>
                <a:latin typeface="Aptos Display"/>
              </a:defRPr>
            </a:pPr>
            <a:r>
              <a:t>Power BI: Booking &amp; Customer Analytics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32104"/>
            <a:ext cx="9601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B4C0CC"/>
                </a:solidFill>
                <a:latin typeface="Aptos"/>
              </a:defRPr>
            </a:pPr>
            <a:r>
              <a:t>KPIs, trends, segments, cities and booking behaviour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347472"/>
            <a:ext cx="1508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D4AF37"/>
                </a:solidFill>
                <a:latin typeface="Aptos"/>
              </a:defRPr>
            </a:pPr>
            <a:r>
              <a:t>10</a:t>
            </a:r>
          </a:p>
        </p:txBody>
      </p:sp>
      <p:pic>
        <p:nvPicPr>
          <p:cNvPr id="6" name="Picture 5" descr="Screenshot 2026-09-29 at 12.57.16 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143000"/>
            <a:ext cx="5669280" cy="5074920"/>
          </a:xfrm>
          <a:prstGeom prst="rect">
            <a:avLst/>
          </a:prstGeom>
        </p:spPr>
      </p:pic>
      <p:pic>
        <p:nvPicPr>
          <p:cNvPr id="7" name="Picture 6" descr="Screenshot 2026-09-29 at 12.57.29 A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9632" y="1143000"/>
            <a:ext cx="5669280" cy="50749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94360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05F6E"/>
                </a:solidFill>
                <a:latin typeface="Aptos"/>
              </a:defRPr>
            </a:pPr>
            <a:r>
              <a:t>EVENT INTELLIGENCE PLATFORM  •  Ajeet Kumar                                     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92608"/>
            <a:ext cx="89611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8F9FA"/>
                </a:solidFill>
                <a:latin typeface="Aptos Display"/>
              </a:defRPr>
            </a:pPr>
            <a:r>
              <a:t>Power BI: Payment Analytics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32104"/>
            <a:ext cx="9601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B4C0CC"/>
                </a:solidFill>
                <a:latin typeface="Aptos"/>
              </a:defRPr>
            </a:pPr>
            <a:r>
              <a:t>Revenue, payment status, methods, monthly volume and customer segments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347472"/>
            <a:ext cx="1508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D4AF37"/>
                </a:solidFill>
                <a:latin typeface="Aptos"/>
              </a:defRPr>
            </a:pPr>
            <a:r>
              <a:t>11</a:t>
            </a:r>
          </a:p>
        </p:txBody>
      </p:sp>
      <p:pic>
        <p:nvPicPr>
          <p:cNvPr id="6" name="Picture 5" descr="Screenshot 2026-09-29 at 12.57.40 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143000"/>
            <a:ext cx="11475720" cy="52120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94360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05F6E"/>
                </a:solidFill>
                <a:latin typeface="Aptos"/>
              </a:defRPr>
            </a:pPr>
            <a:r>
              <a:t>EVENT INTELLIGENCE PLATFORM  •  Ajeet Kumar                                     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92608"/>
            <a:ext cx="89611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8F9FA"/>
                </a:solidFill>
                <a:latin typeface="Aptos Display"/>
              </a:defRPr>
            </a:pPr>
            <a:r>
              <a:t>Dashboard KPI Snapshot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32104"/>
            <a:ext cx="9601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B4C0CC"/>
                </a:solidFill>
                <a:latin typeface="Aptos"/>
              </a:defRPr>
            </a:pPr>
            <a:r>
              <a:t>Representative values visible in the completed Power BI pages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347472"/>
            <a:ext cx="1508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D4AF37"/>
                </a:solidFill>
                <a:latin typeface="Aptos"/>
              </a:defRPr>
            </a:pPr>
            <a:r>
              <a:t>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325880"/>
            <a:ext cx="2057400" cy="1417320"/>
          </a:xfrm>
          <a:prstGeom prst="roundRect">
            <a:avLst/>
          </a:prstGeom>
          <a:solidFill>
            <a:srgbClr val="0A1C2D"/>
          </a:solidFill>
          <a:ln w="12700">
            <a:solidFill>
              <a:srgbClr val="3A4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D4AF37"/>
                </a:solidFill>
                <a:latin typeface="Aptos"/>
              </a:defRPr>
            </a:pPr>
            <a:r>
              <a:t>Customers</a:t>
            </a:r>
          </a:p>
          <a:p>
            <a:pPr>
              <a:spcBef>
                <a:spcPts val="500"/>
              </a:spcBef>
              <a:defRPr sz="2300" b="1">
                <a:solidFill>
                  <a:srgbClr val="F8F9FA"/>
                </a:solidFill>
                <a:latin typeface="Aptos Display"/>
              </a:defRPr>
            </a:pPr>
            <a:r>
              <a:t>100K</a:t>
            </a:r>
          </a:p>
          <a:p>
            <a:pPr>
              <a:spcBef>
                <a:spcPts val="500"/>
              </a:spcBef>
              <a:defRPr sz="900">
                <a:solidFill>
                  <a:srgbClr val="B4C0CC"/>
                </a:solidFill>
                <a:latin typeface="Aptos"/>
              </a:defRPr>
            </a:pPr>
            <a:r>
              <a:t>Power BI dashboard snapshot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1325880"/>
            <a:ext cx="45720" cy="141732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2880360" y="1325880"/>
            <a:ext cx="2057400" cy="1417320"/>
          </a:xfrm>
          <a:prstGeom prst="roundRect">
            <a:avLst/>
          </a:prstGeom>
          <a:solidFill>
            <a:srgbClr val="0A1C2D"/>
          </a:solidFill>
          <a:ln w="12700">
            <a:solidFill>
              <a:srgbClr val="3A4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D4AF37"/>
                </a:solidFill>
                <a:latin typeface="Aptos"/>
              </a:defRPr>
            </a:pPr>
            <a:r>
              <a:t>Bookings</a:t>
            </a:r>
          </a:p>
          <a:p>
            <a:pPr>
              <a:spcBef>
                <a:spcPts val="500"/>
              </a:spcBef>
              <a:defRPr sz="2300" b="1">
                <a:solidFill>
                  <a:srgbClr val="F8F9FA"/>
                </a:solidFill>
                <a:latin typeface="Aptos Display"/>
              </a:defRPr>
            </a:pPr>
            <a:r>
              <a:t>289K</a:t>
            </a:r>
          </a:p>
          <a:p>
            <a:pPr>
              <a:spcBef>
                <a:spcPts val="500"/>
              </a:spcBef>
              <a:defRPr sz="900">
                <a:solidFill>
                  <a:srgbClr val="B4C0CC"/>
                </a:solidFill>
                <a:latin typeface="Aptos"/>
              </a:defRPr>
            </a:pPr>
            <a:r>
              <a:t>Power BI dashboard snapshot</a:t>
            </a:r>
          </a:p>
        </p:txBody>
      </p:sp>
      <p:sp>
        <p:nvSpPr>
          <p:cNvPr id="9" name="Rectangle 8"/>
          <p:cNvSpPr/>
          <p:nvPr/>
        </p:nvSpPr>
        <p:spPr>
          <a:xfrm>
            <a:off x="2880360" y="1325880"/>
            <a:ext cx="45720" cy="141732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166360" y="1325880"/>
            <a:ext cx="2057400" cy="1417320"/>
          </a:xfrm>
          <a:prstGeom prst="roundRect">
            <a:avLst/>
          </a:prstGeom>
          <a:solidFill>
            <a:srgbClr val="0A1C2D"/>
          </a:solidFill>
          <a:ln w="12700">
            <a:solidFill>
              <a:srgbClr val="3A4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D4AF37"/>
                </a:solidFill>
                <a:latin typeface="Aptos"/>
              </a:defRPr>
            </a:pPr>
            <a:r>
              <a:t>Events</a:t>
            </a:r>
          </a:p>
          <a:p>
            <a:pPr>
              <a:spcBef>
                <a:spcPts val="500"/>
              </a:spcBef>
              <a:defRPr sz="2300" b="1">
                <a:solidFill>
                  <a:srgbClr val="F8F9FA"/>
                </a:solidFill>
                <a:latin typeface="Aptos Display"/>
              </a:defRPr>
            </a:pPr>
            <a:r>
              <a:t>5K</a:t>
            </a:r>
          </a:p>
          <a:p>
            <a:pPr>
              <a:spcBef>
                <a:spcPts val="500"/>
              </a:spcBef>
              <a:defRPr sz="900">
                <a:solidFill>
                  <a:srgbClr val="B4C0CC"/>
                </a:solidFill>
                <a:latin typeface="Aptos"/>
              </a:defRPr>
            </a:pPr>
            <a:r>
              <a:t>Power BI dashboard snapshot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166360" y="1325880"/>
            <a:ext cx="45720" cy="141732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452360" y="1325880"/>
            <a:ext cx="2057400" cy="1417320"/>
          </a:xfrm>
          <a:prstGeom prst="roundRect">
            <a:avLst/>
          </a:prstGeom>
          <a:solidFill>
            <a:srgbClr val="0A1C2D"/>
          </a:solidFill>
          <a:ln w="12700">
            <a:solidFill>
              <a:srgbClr val="3A4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D4AF37"/>
                </a:solidFill>
                <a:latin typeface="Aptos"/>
              </a:defRPr>
            </a:pPr>
            <a:r>
              <a:t>Attendance</a:t>
            </a:r>
          </a:p>
          <a:p>
            <a:pPr>
              <a:spcBef>
                <a:spcPts val="500"/>
              </a:spcBef>
              <a:defRPr sz="2300" b="1">
                <a:solidFill>
                  <a:srgbClr val="F8F9FA"/>
                </a:solidFill>
                <a:latin typeface="Aptos Display"/>
              </a:defRPr>
            </a:pPr>
            <a:r>
              <a:t>232K</a:t>
            </a:r>
          </a:p>
          <a:p>
            <a:pPr>
              <a:spcBef>
                <a:spcPts val="500"/>
              </a:spcBef>
              <a:defRPr sz="900">
                <a:solidFill>
                  <a:srgbClr val="B4C0CC"/>
                </a:solidFill>
                <a:latin typeface="Aptos"/>
              </a:defRPr>
            </a:pPr>
            <a:r>
              <a:t>Power BI dashboard snapshot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52360" y="1325880"/>
            <a:ext cx="45720" cy="141732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9738360" y="1325880"/>
            <a:ext cx="2057400" cy="1417320"/>
          </a:xfrm>
          <a:prstGeom prst="roundRect">
            <a:avLst/>
          </a:prstGeom>
          <a:solidFill>
            <a:srgbClr val="0A1C2D"/>
          </a:solidFill>
          <a:ln w="12700">
            <a:solidFill>
              <a:srgbClr val="3A4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D4AF37"/>
                </a:solidFill>
                <a:latin typeface="Aptos"/>
              </a:defRPr>
            </a:pPr>
            <a:r>
              <a:t>Overview Revenue</a:t>
            </a:r>
          </a:p>
          <a:p>
            <a:pPr>
              <a:spcBef>
                <a:spcPts val="500"/>
              </a:spcBef>
              <a:defRPr sz="2300" b="1">
                <a:solidFill>
                  <a:srgbClr val="F8F9FA"/>
                </a:solidFill>
                <a:latin typeface="Aptos Display"/>
              </a:defRPr>
            </a:pPr>
            <a:r>
              <a:t>127.59M</a:t>
            </a:r>
          </a:p>
          <a:p>
            <a:pPr>
              <a:spcBef>
                <a:spcPts val="500"/>
              </a:spcBef>
              <a:defRPr sz="900">
                <a:solidFill>
                  <a:srgbClr val="B4C0CC"/>
                </a:solidFill>
                <a:latin typeface="Aptos"/>
              </a:defRPr>
            </a:pPr>
            <a:r>
              <a:t>Power BI dashboard snapshot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738360" y="1325880"/>
            <a:ext cx="45720" cy="141732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94360" y="3246120"/>
            <a:ext cx="2057400" cy="1417320"/>
          </a:xfrm>
          <a:prstGeom prst="roundRect">
            <a:avLst/>
          </a:prstGeom>
          <a:solidFill>
            <a:srgbClr val="0A1C2D"/>
          </a:solidFill>
          <a:ln w="12700">
            <a:solidFill>
              <a:srgbClr val="3A4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D4AF37"/>
                </a:solidFill>
                <a:latin typeface="Aptos"/>
              </a:defRPr>
            </a:pPr>
            <a:r>
              <a:t>Payment Transactions</a:t>
            </a:r>
          </a:p>
          <a:p>
            <a:pPr>
              <a:spcBef>
                <a:spcPts val="500"/>
              </a:spcBef>
              <a:defRPr sz="2300" b="1">
                <a:solidFill>
                  <a:srgbClr val="F8F9FA"/>
                </a:solidFill>
                <a:latin typeface="Aptos Display"/>
              </a:defRPr>
            </a:pPr>
            <a:r>
              <a:t>308K</a:t>
            </a:r>
          </a:p>
          <a:p>
            <a:pPr>
              <a:spcBef>
                <a:spcPts val="500"/>
              </a:spcBef>
              <a:defRPr sz="900">
                <a:solidFill>
                  <a:srgbClr val="B4C0CC"/>
                </a:solidFill>
                <a:latin typeface="Aptos"/>
              </a:defRPr>
            </a:pPr>
            <a:r>
              <a:t>Power BI dashboard snapshot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4360" y="3246120"/>
            <a:ext cx="45720" cy="141732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2880360" y="3246120"/>
            <a:ext cx="2057400" cy="1417320"/>
          </a:xfrm>
          <a:prstGeom prst="roundRect">
            <a:avLst/>
          </a:prstGeom>
          <a:solidFill>
            <a:srgbClr val="0A1C2D"/>
          </a:solidFill>
          <a:ln w="12700">
            <a:solidFill>
              <a:srgbClr val="3A4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D4AF37"/>
                </a:solidFill>
                <a:latin typeface="Aptos"/>
              </a:defRPr>
            </a:pPr>
            <a:r>
              <a:t>Successful Payments</a:t>
            </a:r>
          </a:p>
          <a:p>
            <a:pPr>
              <a:spcBef>
                <a:spcPts val="500"/>
              </a:spcBef>
              <a:defRPr sz="2300" b="1">
                <a:solidFill>
                  <a:srgbClr val="F8F9FA"/>
                </a:solidFill>
                <a:latin typeface="Aptos Display"/>
              </a:defRPr>
            </a:pPr>
            <a:r>
              <a:t>261K</a:t>
            </a:r>
          </a:p>
          <a:p>
            <a:pPr>
              <a:spcBef>
                <a:spcPts val="500"/>
              </a:spcBef>
              <a:defRPr sz="900">
                <a:solidFill>
                  <a:srgbClr val="B4C0CC"/>
                </a:solidFill>
                <a:latin typeface="Aptos"/>
              </a:defRPr>
            </a:pPr>
            <a:r>
              <a:t>Power BI dashboard snapshot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880360" y="3246120"/>
            <a:ext cx="45720" cy="141732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5166360" y="3246120"/>
            <a:ext cx="2057400" cy="1417320"/>
          </a:xfrm>
          <a:prstGeom prst="roundRect">
            <a:avLst/>
          </a:prstGeom>
          <a:solidFill>
            <a:srgbClr val="0A1C2D"/>
          </a:solidFill>
          <a:ln w="12700">
            <a:solidFill>
              <a:srgbClr val="3A4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D4AF37"/>
                </a:solidFill>
                <a:latin typeface="Aptos"/>
              </a:defRPr>
            </a:pPr>
            <a:r>
              <a:t>Failed Payments</a:t>
            </a:r>
          </a:p>
          <a:p>
            <a:pPr>
              <a:spcBef>
                <a:spcPts val="500"/>
              </a:spcBef>
              <a:defRPr sz="2300" b="1">
                <a:solidFill>
                  <a:srgbClr val="F8F9FA"/>
                </a:solidFill>
                <a:latin typeface="Aptos Display"/>
              </a:defRPr>
            </a:pPr>
            <a:r>
              <a:t>25K</a:t>
            </a:r>
          </a:p>
          <a:p>
            <a:pPr>
              <a:spcBef>
                <a:spcPts val="500"/>
              </a:spcBef>
              <a:defRPr sz="900">
                <a:solidFill>
                  <a:srgbClr val="B4C0CC"/>
                </a:solidFill>
                <a:latin typeface="Aptos"/>
              </a:defRPr>
            </a:pPr>
            <a:r>
              <a:t>Power BI dashboard snapshot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166360" y="3246120"/>
            <a:ext cx="45720" cy="141732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452360" y="3246120"/>
            <a:ext cx="2057400" cy="1417320"/>
          </a:xfrm>
          <a:prstGeom prst="roundRect">
            <a:avLst/>
          </a:prstGeom>
          <a:solidFill>
            <a:srgbClr val="0A1C2D"/>
          </a:solidFill>
          <a:ln w="12700">
            <a:solidFill>
              <a:srgbClr val="3A4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D4AF37"/>
                </a:solidFill>
                <a:latin typeface="Aptos"/>
              </a:defRPr>
            </a:pPr>
            <a:r>
              <a:t>Unique Customers</a:t>
            </a:r>
          </a:p>
          <a:p>
            <a:pPr>
              <a:spcBef>
                <a:spcPts val="500"/>
              </a:spcBef>
              <a:defRPr sz="2300" b="1">
                <a:solidFill>
                  <a:srgbClr val="F8F9FA"/>
                </a:solidFill>
                <a:latin typeface="Aptos Display"/>
              </a:defRPr>
            </a:pPr>
            <a:r>
              <a:t>94K</a:t>
            </a:r>
          </a:p>
          <a:p>
            <a:pPr>
              <a:spcBef>
                <a:spcPts val="500"/>
              </a:spcBef>
              <a:defRPr sz="900">
                <a:solidFill>
                  <a:srgbClr val="B4C0CC"/>
                </a:solidFill>
                <a:latin typeface="Aptos"/>
              </a:defRPr>
            </a:pPr>
            <a:r>
              <a:t>Power BI dashboard snapshot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52360" y="3246120"/>
            <a:ext cx="45720" cy="141732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9738360" y="3246120"/>
            <a:ext cx="2057400" cy="1417320"/>
          </a:xfrm>
          <a:prstGeom prst="roundRect">
            <a:avLst/>
          </a:prstGeom>
          <a:solidFill>
            <a:srgbClr val="0A1C2D"/>
          </a:solidFill>
          <a:ln w="12700">
            <a:solidFill>
              <a:srgbClr val="3A4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D4AF37"/>
                </a:solidFill>
                <a:latin typeface="Aptos"/>
              </a:defRPr>
            </a:pPr>
            <a:r>
              <a:t>Confirmation Rate</a:t>
            </a:r>
          </a:p>
          <a:p>
            <a:pPr>
              <a:spcBef>
                <a:spcPts val="500"/>
              </a:spcBef>
              <a:defRPr sz="2300" b="1">
                <a:solidFill>
                  <a:srgbClr val="F8F9FA"/>
                </a:solidFill>
                <a:latin typeface="Aptos Display"/>
              </a:defRPr>
            </a:pPr>
            <a:r>
              <a:t>0.60</a:t>
            </a:r>
          </a:p>
          <a:p>
            <a:pPr>
              <a:spcBef>
                <a:spcPts val="500"/>
              </a:spcBef>
              <a:defRPr sz="900">
                <a:solidFill>
                  <a:srgbClr val="B4C0CC"/>
                </a:solidFill>
                <a:latin typeface="Aptos"/>
              </a:defRPr>
            </a:pPr>
            <a:r>
              <a:t>Power BI dashboard snapshot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738360" y="3246120"/>
            <a:ext cx="45720" cy="141732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7240" y="53492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000">
                <a:solidFill>
                  <a:srgbClr val="B4C0CC"/>
                </a:solidFill>
                <a:latin typeface="Aptos"/>
              </a:defRPr>
            </a:pPr>
            <a:r>
              <a:t>• Note: payment transaction value and overview revenue are separate dashboard measures with different definitions.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05F6E"/>
                </a:solidFill>
                <a:latin typeface="Aptos"/>
              </a:defRPr>
            </a:pPr>
            <a:r>
              <a:t>EVENT INTELLIGENCE PLATFORM  •  Ajeet Kumar                                      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92608"/>
            <a:ext cx="89611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8F9FA"/>
                </a:solidFill>
                <a:latin typeface="Aptos Display"/>
              </a:defRPr>
            </a:pPr>
            <a:r>
              <a:t>What the Project Delivers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32104"/>
            <a:ext cx="9601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B4C0CC"/>
                </a:solidFill>
                <a:latin typeface="Aptos"/>
              </a:defRPr>
            </a:pPr>
            <a:r>
              <a:t>A complete analytics pipeline rather than a single dashboard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347472"/>
            <a:ext cx="1508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D4AF37"/>
                </a:solidFill>
                <a:latin typeface="Aptos"/>
              </a:defRPr>
            </a:pPr>
            <a:r>
              <a:t>13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280160"/>
            <a:ext cx="5303520" cy="1097280"/>
          </a:xfrm>
          <a:prstGeom prst="roundRect">
            <a:avLst/>
          </a:prstGeom>
          <a:solidFill>
            <a:srgbClr val="0A1C2D"/>
          </a:solidFill>
          <a:ln w="12700">
            <a:solidFill>
              <a:srgbClr val="3A4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D4AF37"/>
                </a:solidFill>
                <a:latin typeface="Aptos"/>
              </a:defRPr>
            </a:pPr>
            <a:r>
              <a:t>DATA QUALITY</a:t>
            </a:r>
          </a:p>
          <a:p>
            <a:pPr>
              <a:spcBef>
                <a:spcPts val="500"/>
              </a:spcBef>
              <a:defRPr sz="900">
                <a:solidFill>
                  <a:srgbClr val="B4C0CC"/>
                </a:solidFill>
                <a:latin typeface="Aptos"/>
              </a:defRPr>
            </a:pPr>
            <a:r>
              <a:t>Raw event data is audited and converted into analysis-ready tables.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1280160"/>
            <a:ext cx="45720" cy="109728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355080" y="1280160"/>
            <a:ext cx="5303520" cy="1097280"/>
          </a:xfrm>
          <a:prstGeom prst="roundRect">
            <a:avLst/>
          </a:prstGeom>
          <a:solidFill>
            <a:srgbClr val="0A1C2D"/>
          </a:solidFill>
          <a:ln w="12700">
            <a:solidFill>
              <a:srgbClr val="3A4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D4AF37"/>
                </a:solidFill>
                <a:latin typeface="Aptos"/>
              </a:defRPr>
            </a:pPr>
            <a:r>
              <a:t>RELATIONAL ANALYSIS</a:t>
            </a:r>
          </a:p>
          <a:p>
            <a:pPr>
              <a:spcBef>
                <a:spcPts val="500"/>
              </a:spcBef>
              <a:defRPr sz="900">
                <a:solidFill>
                  <a:srgbClr val="B4C0CC"/>
                </a:solidFill>
                <a:latin typeface="Aptos"/>
              </a:defRPr>
            </a:pPr>
            <a:r>
              <a:t>MySQL preserves table relationships and supports business questions.</a:t>
            </a:r>
          </a:p>
        </p:txBody>
      </p:sp>
      <p:sp>
        <p:nvSpPr>
          <p:cNvPr id="9" name="Rectangle 8"/>
          <p:cNvSpPr/>
          <p:nvPr/>
        </p:nvSpPr>
        <p:spPr>
          <a:xfrm>
            <a:off x="6355080" y="1280160"/>
            <a:ext cx="45720" cy="109728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85800" y="2697480"/>
            <a:ext cx="5303520" cy="1097280"/>
          </a:xfrm>
          <a:prstGeom prst="roundRect">
            <a:avLst/>
          </a:prstGeom>
          <a:solidFill>
            <a:srgbClr val="0A1C2D"/>
          </a:solidFill>
          <a:ln w="12700">
            <a:solidFill>
              <a:srgbClr val="3A4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D4AF37"/>
                </a:solidFill>
                <a:latin typeface="Aptos"/>
              </a:defRPr>
            </a:pPr>
            <a:r>
              <a:t>ANALYTICAL SQL</a:t>
            </a:r>
          </a:p>
          <a:p>
            <a:pPr>
              <a:spcBef>
                <a:spcPts val="500"/>
              </a:spcBef>
              <a:defRPr sz="900">
                <a:solidFill>
                  <a:srgbClr val="B4C0CC"/>
                </a:solidFill>
                <a:latin typeface="Aptos"/>
              </a:defRPr>
            </a:pPr>
            <a:r>
              <a:t>Aggregation, joins, CTEs, subqueries and window functions are demonstrated.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2697480"/>
            <a:ext cx="45720" cy="109728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355080" y="2697480"/>
            <a:ext cx="5303520" cy="1097280"/>
          </a:xfrm>
          <a:prstGeom prst="roundRect">
            <a:avLst/>
          </a:prstGeom>
          <a:solidFill>
            <a:srgbClr val="0A1C2D"/>
          </a:solidFill>
          <a:ln w="12700">
            <a:solidFill>
              <a:srgbClr val="3A4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D4AF37"/>
                </a:solidFill>
                <a:latin typeface="Aptos"/>
              </a:defRPr>
            </a:pPr>
            <a:r>
              <a:t>BUSINESS VIEW</a:t>
            </a:r>
          </a:p>
          <a:p>
            <a:pPr>
              <a:spcBef>
                <a:spcPts val="500"/>
              </a:spcBef>
              <a:defRPr sz="900">
                <a:solidFill>
                  <a:srgbClr val="B4C0CC"/>
                </a:solidFill>
                <a:latin typeface="Aptos"/>
              </a:defRPr>
            </a:pPr>
            <a:r>
              <a:t>Customer, booking, event, payment and attendance metrics are presented together.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55080" y="2697480"/>
            <a:ext cx="45720" cy="109728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85800" y="4114800"/>
            <a:ext cx="5303520" cy="1097280"/>
          </a:xfrm>
          <a:prstGeom prst="roundRect">
            <a:avLst/>
          </a:prstGeom>
          <a:solidFill>
            <a:srgbClr val="0A1C2D"/>
          </a:solidFill>
          <a:ln w="12700">
            <a:solidFill>
              <a:srgbClr val="3A4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D4AF37"/>
                </a:solidFill>
                <a:latin typeface="Aptos"/>
              </a:defRPr>
            </a:pPr>
            <a:r>
              <a:t>INTERACTIVE REPORTING</a:t>
            </a:r>
          </a:p>
          <a:p>
            <a:pPr>
              <a:spcBef>
                <a:spcPts val="500"/>
              </a:spcBef>
              <a:defRPr sz="900">
                <a:solidFill>
                  <a:srgbClr val="B4C0CC"/>
                </a:solidFill>
                <a:latin typeface="Aptos"/>
              </a:defRPr>
            </a:pPr>
            <a:r>
              <a:t>Power BI provides slicers, KPIs, trends and cross-page navigation.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85800" y="4114800"/>
            <a:ext cx="45720" cy="109728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355080" y="4114800"/>
            <a:ext cx="5303520" cy="1097280"/>
          </a:xfrm>
          <a:prstGeom prst="roundRect">
            <a:avLst/>
          </a:prstGeom>
          <a:solidFill>
            <a:srgbClr val="0A1C2D"/>
          </a:solidFill>
          <a:ln w="12700">
            <a:solidFill>
              <a:srgbClr val="3A4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D4AF37"/>
                </a:solidFill>
                <a:latin typeface="Aptos"/>
              </a:defRPr>
            </a:pPr>
            <a:r>
              <a:t>PORTFOLIO READY</a:t>
            </a:r>
          </a:p>
          <a:p>
            <a:pPr>
              <a:spcBef>
                <a:spcPts val="500"/>
              </a:spcBef>
              <a:defRPr sz="900">
                <a:solidFill>
                  <a:srgbClr val="B4C0CC"/>
                </a:solidFill>
                <a:latin typeface="Aptos"/>
              </a:defRPr>
            </a:pPr>
            <a:r>
              <a:t>The workflow can be documented in GitHub with notebook, SQL, report and screenshots.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55080" y="4114800"/>
            <a:ext cx="45720" cy="109728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05F6E"/>
                </a:solidFill>
                <a:latin typeface="Aptos"/>
              </a:defRPr>
            </a:pPr>
            <a:r>
              <a:t>EVENT INTELLIGENCE PLATFORM  •  Ajeet Kumar                                      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92608"/>
            <a:ext cx="89611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8F9FA"/>
                </a:solidFill>
                <a:latin typeface="Aptos Display"/>
              </a:defRPr>
            </a:pPr>
            <a:r>
              <a:t>Technology Stack &amp; GitHub Structure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32104"/>
            <a:ext cx="9601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B4C0CC"/>
                </a:solidFill>
                <a:latin typeface="Aptos"/>
              </a:defRPr>
            </a:pPr>
            <a:r>
              <a:t>Everything is organized as an end-to-end portfolio 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347472"/>
            <a:ext cx="1508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D4AF37"/>
                </a:solidFill>
                <a:latin typeface="Aptos"/>
              </a:defRPr>
            </a:pPr>
            <a:r>
              <a:t>14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234440"/>
            <a:ext cx="2468880" cy="1143000"/>
          </a:xfrm>
          <a:prstGeom prst="roundRect">
            <a:avLst/>
          </a:prstGeom>
          <a:solidFill>
            <a:srgbClr val="0A1C2D"/>
          </a:solidFill>
          <a:ln w="12700">
            <a:solidFill>
              <a:srgbClr val="3A4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D4AF37"/>
                </a:solidFill>
                <a:latin typeface="Aptos"/>
              </a:defRPr>
            </a:pPr>
            <a:r>
              <a:t>PYTHON</a:t>
            </a:r>
          </a:p>
          <a:p>
            <a:pPr>
              <a:spcBef>
                <a:spcPts val="500"/>
              </a:spcBef>
              <a:defRPr sz="2300" b="1">
                <a:solidFill>
                  <a:srgbClr val="F8F9FA"/>
                </a:solidFill>
                <a:latin typeface="Aptos Display"/>
              </a:defRPr>
            </a:pPr>
            <a:r>
              <a:t>Pandas • NumPy</a:t>
            </a:r>
          </a:p>
          <a:p>
            <a:pPr>
              <a:spcBef>
                <a:spcPts val="500"/>
              </a:spcBef>
              <a:defRPr sz="900">
                <a:solidFill>
                  <a:srgbClr val="B4C0CC"/>
                </a:solidFill>
                <a:latin typeface="Aptos"/>
              </a:defRPr>
            </a:pPr>
            <a:r>
              <a:t>Cleaning + EDA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1234440"/>
            <a:ext cx="45720" cy="11430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383280" y="1234440"/>
            <a:ext cx="2468880" cy="1143000"/>
          </a:xfrm>
          <a:prstGeom prst="roundRect">
            <a:avLst/>
          </a:prstGeom>
          <a:solidFill>
            <a:srgbClr val="0A1C2D"/>
          </a:solidFill>
          <a:ln w="12700">
            <a:solidFill>
              <a:srgbClr val="3A4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D4AF37"/>
                </a:solidFill>
                <a:latin typeface="Aptos"/>
              </a:defRPr>
            </a:pPr>
            <a:r>
              <a:t>VISUALIZATION</a:t>
            </a:r>
          </a:p>
          <a:p>
            <a:pPr>
              <a:spcBef>
                <a:spcPts val="500"/>
              </a:spcBef>
              <a:defRPr sz="2300" b="1">
                <a:solidFill>
                  <a:srgbClr val="F8F9FA"/>
                </a:solidFill>
                <a:latin typeface="Aptos Display"/>
              </a:defRPr>
            </a:pPr>
            <a:r>
              <a:t>Matplotlib • Seaborn</a:t>
            </a:r>
          </a:p>
          <a:p>
            <a:pPr>
              <a:spcBef>
                <a:spcPts val="500"/>
              </a:spcBef>
              <a:defRPr sz="900">
                <a:solidFill>
                  <a:srgbClr val="B4C0CC"/>
                </a:solidFill>
                <a:latin typeface="Aptos"/>
              </a:defRPr>
            </a:pPr>
            <a:r>
              <a:t>Charts + exploration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3383280" y="1234440"/>
            <a:ext cx="45720" cy="11430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080760" y="1234440"/>
            <a:ext cx="2468880" cy="1143000"/>
          </a:xfrm>
          <a:prstGeom prst="roundRect">
            <a:avLst/>
          </a:prstGeom>
          <a:solidFill>
            <a:srgbClr val="0A1C2D"/>
          </a:solidFill>
          <a:ln w="12700">
            <a:solidFill>
              <a:srgbClr val="3A4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D4AF37"/>
                </a:solidFill>
                <a:latin typeface="Aptos"/>
              </a:defRPr>
            </a:pPr>
            <a:r>
              <a:t>DATABASE</a:t>
            </a:r>
          </a:p>
          <a:p>
            <a:pPr>
              <a:spcBef>
                <a:spcPts val="500"/>
              </a:spcBef>
              <a:defRPr sz="2300" b="1">
                <a:solidFill>
                  <a:srgbClr val="F8F9FA"/>
                </a:solidFill>
                <a:latin typeface="Aptos Display"/>
              </a:defRPr>
            </a:pPr>
            <a:r>
              <a:t>MySQL</a:t>
            </a:r>
          </a:p>
          <a:p>
            <a:pPr>
              <a:spcBef>
                <a:spcPts val="500"/>
              </a:spcBef>
              <a:defRPr sz="900">
                <a:solidFill>
                  <a:srgbClr val="B4C0CC"/>
                </a:solidFill>
                <a:latin typeface="Aptos"/>
              </a:defRPr>
            </a:pPr>
            <a:r>
              <a:t>Relational analysis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80760" y="1234440"/>
            <a:ext cx="45720" cy="11430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778240" y="1234440"/>
            <a:ext cx="2468880" cy="1143000"/>
          </a:xfrm>
          <a:prstGeom prst="roundRect">
            <a:avLst/>
          </a:prstGeom>
          <a:solidFill>
            <a:srgbClr val="0A1C2D"/>
          </a:solidFill>
          <a:ln w="12700">
            <a:solidFill>
              <a:srgbClr val="3A4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D4AF37"/>
                </a:solidFill>
                <a:latin typeface="Aptos"/>
              </a:defRPr>
            </a:pPr>
            <a:r>
              <a:t>BI</a:t>
            </a:r>
          </a:p>
          <a:p>
            <a:pPr>
              <a:spcBef>
                <a:spcPts val="500"/>
              </a:spcBef>
              <a:defRPr sz="2300" b="1">
                <a:solidFill>
                  <a:srgbClr val="F8F9FA"/>
                </a:solidFill>
                <a:latin typeface="Aptos Display"/>
              </a:defRPr>
            </a:pPr>
            <a:r>
              <a:t>Power BI</a:t>
            </a:r>
          </a:p>
          <a:p>
            <a:pPr>
              <a:spcBef>
                <a:spcPts val="500"/>
              </a:spcBef>
              <a:defRPr sz="900">
                <a:solidFill>
                  <a:srgbClr val="B4C0CC"/>
                </a:solidFill>
                <a:latin typeface="Aptos"/>
              </a:defRPr>
            </a:pPr>
            <a:r>
              <a:t>Interactive reporting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778240" y="1234440"/>
            <a:ext cx="45720" cy="11430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914400" y="2788920"/>
            <a:ext cx="5669280" cy="3063240"/>
          </a:xfrm>
          <a:prstGeom prst="roundRect">
            <a:avLst/>
          </a:prstGeom>
          <a:solidFill>
            <a:srgbClr val="0C1724"/>
          </a:solidFill>
          <a:ln>
            <a:solidFill>
              <a:srgbClr val="3C4B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  <a:defRPr sz="900" b="1">
                <a:solidFill>
                  <a:srgbClr val="D4AF37"/>
                </a:solidFill>
                <a:latin typeface="Aptos"/>
              </a:defRPr>
            </a:pPr>
            <a:r>
              <a:t>GITHUB STRUCTURE</a:t>
            </a:r>
          </a:p>
          <a:p>
            <a:pPr>
              <a:defRPr sz="1000">
                <a:solidFill>
                  <a:srgbClr val="F8F9FA"/>
                </a:solidFill>
                <a:latin typeface="Consolas"/>
              </a:defRPr>
            </a:pPr>
            <a:r>
              <a:t>Event_Intelligence/</a:t>
            </a:r>
            <a:br/>
            <a:r>
              <a:t>├── README.md</a:t>
            </a:r>
            <a:br/>
            <a:r>
              <a:t>├── notebooks/</a:t>
            </a:r>
            <a:br/>
            <a:r>
              <a:t>│   └── 01_Event_Intelligence_Data_Cleaning.ipynb</a:t>
            </a:r>
            <a:br/>
            <a:r>
              <a:t>├── sql/</a:t>
            </a:r>
            <a:br/>
            <a:r>
              <a:t>│   └── event_intelligence.sql</a:t>
            </a:r>
            <a:br/>
            <a:r>
              <a:t>├── powerbi/</a:t>
            </a:r>
            <a:br/>
            <a:r>
              <a:t>│   └── Event_Intelligence_Report/</a:t>
            </a:r>
            <a:br/>
            <a:r>
              <a:t>├── images/</a:t>
            </a:r>
            <a:br/>
            <a:r>
              <a:t>│   └── dashboard screenshots</a:t>
            </a:r>
            <a:br/>
            <a:r>
              <a:t>├── data/</a:t>
            </a:r>
            <a:br/>
            <a:r>
              <a:t>│   └── documentation</a:t>
            </a:r>
            <a:br/>
            <a:r>
              <a:t>└── requirements.txt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95160" y="2971800"/>
            <a:ext cx="42976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F8F9FA"/>
                </a:solidFill>
                <a:latin typeface="Aptos"/>
              </a:defRPr>
            </a:pPr>
            <a:r>
              <a:t>• Professional README</a:t>
            </a:r>
          </a:p>
          <a:p>
            <a:pPr>
              <a:spcAft>
                <a:spcPts val="1000"/>
              </a:spcAft>
              <a:defRPr sz="1400">
                <a:solidFill>
                  <a:srgbClr val="F8F9FA"/>
                </a:solidFill>
                <a:latin typeface="Aptos"/>
              </a:defRPr>
            </a:pPr>
            <a:r>
              <a:t>• Python cleaning / EDA notebook</a:t>
            </a:r>
          </a:p>
          <a:p>
            <a:pPr>
              <a:spcAft>
                <a:spcPts val="1000"/>
              </a:spcAft>
              <a:defRPr sz="1400">
                <a:solidFill>
                  <a:srgbClr val="F8F9FA"/>
                </a:solidFill>
                <a:latin typeface="Aptos"/>
              </a:defRPr>
            </a:pPr>
            <a:r>
              <a:t>• SQL schema + 50 business questions</a:t>
            </a:r>
          </a:p>
          <a:p>
            <a:pPr>
              <a:spcAft>
                <a:spcPts val="1000"/>
              </a:spcAft>
              <a:defRPr sz="1400">
                <a:solidFill>
                  <a:srgbClr val="F8F9FA"/>
                </a:solidFill>
                <a:latin typeface="Aptos"/>
              </a:defRPr>
            </a:pPr>
            <a:r>
              <a:t>• Power BI report package</a:t>
            </a:r>
          </a:p>
          <a:p>
            <a:pPr>
              <a:spcAft>
                <a:spcPts val="1000"/>
              </a:spcAft>
              <a:defRPr sz="1400">
                <a:solidFill>
                  <a:srgbClr val="F8F9FA"/>
                </a:solidFill>
                <a:latin typeface="Aptos"/>
              </a:defRPr>
            </a:pPr>
            <a:r>
              <a:t>• Dashboard screenshots</a:t>
            </a:r>
          </a:p>
          <a:p>
            <a:pPr>
              <a:spcAft>
                <a:spcPts val="1000"/>
              </a:spcAft>
              <a:defRPr sz="1400">
                <a:solidFill>
                  <a:srgbClr val="F8F9FA"/>
                </a:solidFill>
                <a:latin typeface="Aptos"/>
              </a:defRPr>
            </a:pPr>
            <a:r>
              <a:t>• Setup and documentation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05F6E"/>
                </a:solidFill>
                <a:latin typeface="Aptos"/>
              </a:defRPr>
            </a:pPr>
            <a:r>
              <a:t>EVENT INTELLIGENCE PLATFORM  •  Ajeet Kumar                                      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874519"/>
            <a:ext cx="10515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D4AF37"/>
                </a:solidFill>
                <a:latin typeface="Aptos Display"/>
              </a:defRPr>
            </a:pPr>
            <a:r>
              <a:t>THANK YOU</a:t>
            </a:r>
          </a:p>
          <a:p>
            <a:pPr algn="ctr">
              <a:defRPr sz="2200">
                <a:solidFill>
                  <a:srgbClr val="F8F9FA"/>
                </a:solidFill>
                <a:latin typeface="Aptos"/>
              </a:defRPr>
            </a:pPr>
            <a:r>
              <a:t>Event Intelligence Platform</a:t>
            </a:r>
          </a:p>
          <a:p>
            <a:pPr algn="ctr">
              <a:defRPr sz="1300">
                <a:solidFill>
                  <a:srgbClr val="B4C0CC"/>
                </a:solidFill>
                <a:latin typeface="Aptos"/>
              </a:defRPr>
            </a:pPr>
            <a:r>
              <a:t>Ajeet Kumar  •  Data Analyst / Data Science Aspirant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234440" y="4069080"/>
            <a:ext cx="2971800" cy="960120"/>
          </a:xfrm>
          <a:prstGeom prst="roundRect">
            <a:avLst/>
          </a:prstGeom>
          <a:solidFill>
            <a:srgbClr val="0A1C2D"/>
          </a:solidFill>
          <a:ln w="12700">
            <a:solidFill>
              <a:srgbClr val="3A4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D4AF37"/>
                </a:solidFill>
                <a:latin typeface="Aptos"/>
              </a:defRPr>
            </a:pPr>
            <a:r>
              <a:t>PYTHON</a:t>
            </a:r>
          </a:p>
          <a:p>
            <a:pPr>
              <a:spcBef>
                <a:spcPts val="500"/>
              </a:spcBef>
              <a:defRPr sz="2300" b="1">
                <a:solidFill>
                  <a:srgbClr val="F8F9FA"/>
                </a:solidFill>
                <a:latin typeface="Aptos Display"/>
              </a:defRPr>
            </a:pPr>
            <a:r>
              <a:t>Cleaning + EDA</a:t>
            </a:r>
          </a:p>
        </p:txBody>
      </p:sp>
      <p:sp>
        <p:nvSpPr>
          <p:cNvPr id="5" name="Rectangle 4"/>
          <p:cNvSpPr/>
          <p:nvPr/>
        </p:nvSpPr>
        <p:spPr>
          <a:xfrm>
            <a:off x="1234440" y="4069080"/>
            <a:ext cx="45720" cy="96012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663440" y="4069080"/>
            <a:ext cx="2971800" cy="960120"/>
          </a:xfrm>
          <a:prstGeom prst="roundRect">
            <a:avLst/>
          </a:prstGeom>
          <a:solidFill>
            <a:srgbClr val="0A1C2D"/>
          </a:solidFill>
          <a:ln w="12700">
            <a:solidFill>
              <a:srgbClr val="3A4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D4AF37"/>
                </a:solidFill>
                <a:latin typeface="Aptos"/>
              </a:defRPr>
            </a:pPr>
            <a:r>
              <a:t>MYSQL</a:t>
            </a:r>
          </a:p>
          <a:p>
            <a:pPr>
              <a:spcBef>
                <a:spcPts val="500"/>
              </a:spcBef>
              <a:defRPr sz="2300" b="1">
                <a:solidFill>
                  <a:srgbClr val="F8F9FA"/>
                </a:solidFill>
                <a:latin typeface="Aptos Display"/>
              </a:defRPr>
            </a:pPr>
            <a:r>
              <a:t>50 Questions</a:t>
            </a:r>
          </a:p>
        </p:txBody>
      </p:sp>
      <p:sp>
        <p:nvSpPr>
          <p:cNvPr id="7" name="Rectangle 6"/>
          <p:cNvSpPr/>
          <p:nvPr/>
        </p:nvSpPr>
        <p:spPr>
          <a:xfrm>
            <a:off x="4663440" y="4069080"/>
            <a:ext cx="45720" cy="96012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092440" y="4069080"/>
            <a:ext cx="2971800" cy="960120"/>
          </a:xfrm>
          <a:prstGeom prst="roundRect">
            <a:avLst/>
          </a:prstGeom>
          <a:solidFill>
            <a:srgbClr val="0A1C2D"/>
          </a:solidFill>
          <a:ln w="12700">
            <a:solidFill>
              <a:srgbClr val="3A4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D4AF37"/>
                </a:solidFill>
                <a:latin typeface="Aptos"/>
              </a:defRPr>
            </a:pPr>
            <a:r>
              <a:t>POWER BI</a:t>
            </a:r>
          </a:p>
          <a:p>
            <a:pPr>
              <a:spcBef>
                <a:spcPts val="500"/>
              </a:spcBef>
              <a:defRPr sz="2300" b="1">
                <a:solidFill>
                  <a:srgbClr val="F8F9FA"/>
                </a:solidFill>
                <a:latin typeface="Aptos Display"/>
              </a:defRPr>
            </a:pPr>
            <a:r>
              <a:t>Interactive Dashboard</a:t>
            </a:r>
          </a:p>
        </p:txBody>
      </p:sp>
      <p:sp>
        <p:nvSpPr>
          <p:cNvPr id="9" name="Rectangle 8"/>
          <p:cNvSpPr/>
          <p:nvPr/>
        </p:nvSpPr>
        <p:spPr>
          <a:xfrm>
            <a:off x="8092440" y="4069080"/>
            <a:ext cx="45720" cy="96012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05F6E"/>
                </a:solidFill>
                <a:latin typeface="Aptos"/>
              </a:defRPr>
            </a:pPr>
            <a:r>
              <a:t>EVENT INTELLIGENCE PLATFORM  •  Ajeet Kumar                                      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